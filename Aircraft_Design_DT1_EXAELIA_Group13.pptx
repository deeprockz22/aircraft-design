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64592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CHALMERS UNIVERSITY OF TECHNOLOGY  •  MMS236 AIRCRAFT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F8FAFC"/>
                </a:solidFill>
                <a:latin typeface="Helvetica Neue"/>
              </a:defRPr>
            </a:pPr>
            <a:r>
              <a:t>Aircraft Design, DT1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BD5E1"/>
                </a:solidFill>
                <a:latin typeface="Helvetica Neue"/>
              </a:defRPr>
            </a:pPr>
            <a:r>
              <a:t>EXAELIA — 80m Liquid Hydrogen Blended Wing Body Transport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8FAFC"/>
                </a:solidFill>
                <a:latin typeface="Arial"/>
              </a:defRPr>
            </a:pPr>
            <a:r>
              <a:t>Johan Persson   •   Sai Srinivasa Manideep Jakka   •   Tobias Hilltorp   •   William Gustavsson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Group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5303520"/>
            <a:ext cx="9997135" cy="7772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5440680"/>
            <a:ext cx="96313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430 Passengers   |   12,500 km Range   |   Mach 0.85 at FL350   |   80.0 m Span (ICAO Code F)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CONCEPT ORIGIN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First sketch</a:t>
            </a:r>
          </a:p>
        </p:txBody>
      </p:sp>
      <p:pic>
        <p:nvPicPr>
          <p:cNvPr id="4" name="Picture 3" descr="image1_ble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325880"/>
            <a:ext cx="3234349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617220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Arial"/>
              </a:defRPr>
            </a:pPr>
            <a:r>
              <a:t>Initial hand-drawn configuration sketch  •  80 m wingspan blended wing body planform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MISSION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Sizing mission</a:t>
            </a:r>
          </a:p>
        </p:txBody>
      </p:sp>
      <p:pic>
        <p:nvPicPr>
          <p:cNvPr id="4" name="Picture 3" descr="mission_nativ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325880"/>
            <a:ext cx="8899855" cy="4449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617220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Arial"/>
              </a:defRPr>
            </a:pPr>
            <a:r>
              <a:t>Design Range: 12,500 km at FL350 (M0.85)  •  200 nm Diversion  •  30 min Loiter + 3% Contingency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PROPULSION MODELING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Engine performance</a:t>
            </a:r>
          </a:p>
        </p:txBody>
      </p:sp>
      <p:pic>
        <p:nvPicPr>
          <p:cNvPr id="4" name="Picture 3" descr="sfc_nativ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6035040" cy="40233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132320" y="1371600"/>
            <a:ext cx="4236415" cy="21488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0" y="1554480"/>
            <a:ext cx="365760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2050 SFC TREND (JET-A)</a:t>
            </a:r>
          </a:p>
          <a:p>
            <a:pPr>
              <a:spcBef>
                <a:spcPts val="300"/>
              </a:spcBef>
              <a:defRPr sz="3000" b="1">
                <a:solidFill>
                  <a:srgbClr val="F8FAFC"/>
                </a:solidFill>
                <a:latin typeface="Helvetica Neue"/>
              </a:defRPr>
            </a:pPr>
            <a:r>
              <a:t>12.0 mg/Ns</a:t>
            </a:r>
          </a:p>
          <a:p>
            <a:pPr>
              <a:spcBef>
                <a:spcPts val="300"/>
              </a:spcBef>
              <a:defRPr sz="1100">
                <a:solidFill>
                  <a:srgbClr val="CBD5E1"/>
                </a:solidFill>
                <a:latin typeface="Arial"/>
              </a:defRPr>
            </a:pPr>
            <a:r>
              <a:t>Baseline historical turbofan efficiency trend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3794760"/>
            <a:ext cx="4236415" cy="21488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3977639"/>
            <a:ext cx="365760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LH2 EQUIVALENT SFC</a:t>
            </a:r>
          </a:p>
          <a:p>
            <a:pPr>
              <a:spcBef>
                <a:spcPts val="300"/>
              </a:spcBef>
              <a:defRPr sz="3400" b="1">
                <a:solidFill>
                  <a:srgbClr val="38BDF8"/>
                </a:solidFill>
                <a:latin typeface="Helvetica Neue"/>
              </a:defRPr>
            </a:pPr>
            <a:r>
              <a:t>4.8 mg/Ns</a:t>
            </a:r>
          </a:p>
          <a:p>
            <a:pPr>
              <a:spcBef>
                <a:spcPts val="300"/>
              </a:spcBef>
              <a:defRPr sz="1100">
                <a:solidFill>
                  <a:srgbClr val="CBD5E1"/>
                </a:solidFill>
                <a:latin typeface="Arial"/>
              </a:defRPr>
            </a:pPr>
            <a:r>
              <a:t>2.8× higher energy density (120 MJ/kg vs 42.8 MJ/kg)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AERODYNAMIC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Aerodynamics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5150815" cy="21488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645920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ASPECT RATIO</a:t>
            </a:r>
          </a:p>
          <a:p>
            <a:pPr>
              <a:spcBef>
                <a:spcPts val="200"/>
              </a:spcBef>
              <a:defRPr sz="3800" b="1">
                <a:solidFill>
                  <a:srgbClr val="F8FAFC"/>
                </a:solidFill>
                <a:latin typeface="Helvetica Neue"/>
              </a:defRPr>
            </a:pPr>
            <a:r>
              <a:t>9.5</a:t>
            </a:r>
          </a:p>
          <a:p>
            <a:pPr>
              <a:spcBef>
                <a:spcPts val="300"/>
              </a:spcBef>
              <a:defRPr sz="1150">
                <a:solidFill>
                  <a:srgbClr val="CBD5E1"/>
                </a:solidFill>
                <a:latin typeface="Arial"/>
              </a:defRPr>
            </a:pPr>
            <a:r>
              <a:t>Transonic planform optimum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50815" cy="21488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WETTED RATIO (Swet / Sref)</a:t>
            </a:r>
          </a:p>
          <a:p>
            <a:pPr>
              <a:spcBef>
                <a:spcPts val="200"/>
              </a:spcBef>
              <a:defRPr sz="3800" b="1">
                <a:solidFill>
                  <a:srgbClr val="38BDF8"/>
                </a:solidFill>
                <a:latin typeface="Helvetica Neue"/>
              </a:defRPr>
            </a:pPr>
            <a:r>
              <a:t>2.2</a:t>
            </a:r>
          </a:p>
          <a:p>
            <a:pPr>
              <a:spcBef>
                <a:spcPts val="300"/>
              </a:spcBef>
              <a:defRPr sz="1150">
                <a:solidFill>
                  <a:srgbClr val="CBD5E1"/>
                </a:solidFill>
                <a:latin typeface="Arial"/>
              </a:defRPr>
            </a:pPr>
            <a:r>
              <a:t>High volumetric packaging efficiency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749039"/>
            <a:ext cx="5150815" cy="21488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023359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MAX EFFICIENCY (L/D Max)</a:t>
            </a:r>
          </a:p>
          <a:p>
            <a:pPr>
              <a:spcBef>
                <a:spcPts val="200"/>
              </a:spcBef>
              <a:defRPr sz="3800" b="1">
                <a:solidFill>
                  <a:srgbClr val="F8FAFC"/>
                </a:solidFill>
                <a:latin typeface="Helvetica Neue"/>
              </a:defRPr>
            </a:pPr>
            <a:r>
              <a:t>30.8</a:t>
            </a:r>
          </a:p>
          <a:p>
            <a:pPr>
              <a:spcBef>
                <a:spcPts val="300"/>
              </a:spcBef>
              <a:defRPr sz="1150">
                <a:solidFill>
                  <a:srgbClr val="CBD5E1"/>
                </a:solidFill>
                <a:latin typeface="Arial"/>
              </a:defRPr>
            </a:pPr>
            <a:r>
              <a:t>Maximum loiter &amp; hold efficiency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749039"/>
            <a:ext cx="5150815" cy="21488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4023359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CRUISE EFFICIENCY (L/D Cruise)</a:t>
            </a:r>
          </a:p>
          <a:p>
            <a:pPr>
              <a:spcBef>
                <a:spcPts val="200"/>
              </a:spcBef>
              <a:defRPr sz="3800" b="1">
                <a:solidFill>
                  <a:srgbClr val="38BDF8"/>
                </a:solidFill>
                <a:latin typeface="Helvetica Neue"/>
              </a:defRPr>
            </a:pPr>
            <a:r>
              <a:t>26.7</a:t>
            </a:r>
          </a:p>
          <a:p>
            <a:pPr>
              <a:spcBef>
                <a:spcPts val="300"/>
              </a:spcBef>
              <a:defRPr sz="1150">
                <a:solidFill>
                  <a:srgbClr val="CBD5E1"/>
                </a:solidFill>
                <a:latin typeface="Arial"/>
              </a:defRPr>
            </a:pPr>
            <a:r>
              <a:t>Optimal Mach 0.85 long-range condition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MASS SIZING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MTOW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3413455" cy="457200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737360"/>
            <a:ext cx="27432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MAXIMUM TAKE-OFF WEIGHT</a:t>
            </a:r>
          </a:p>
          <a:p>
            <a:pPr>
              <a:spcBef>
                <a:spcPts val="800"/>
              </a:spcBef>
              <a:defRPr sz="2800" b="1">
                <a:solidFill>
                  <a:srgbClr val="F8FAFC"/>
                </a:solidFill>
                <a:latin typeface="Helvetica Neue"/>
              </a:defRPr>
            </a:pPr>
            <a:r>
              <a:t>235,460 kg</a:t>
            </a:r>
          </a:p>
          <a:p>
            <a:pPr>
              <a:spcBef>
                <a:spcPts val="400"/>
              </a:spcBef>
              <a:defRPr sz="1500" b="1">
                <a:solidFill>
                  <a:srgbClr val="38BDF8"/>
                </a:solidFill>
                <a:latin typeface="Helvetica Neue"/>
              </a:defRPr>
            </a:pPr>
            <a:r>
              <a:t>~235.5 tonnes</a:t>
            </a:r>
          </a:p>
          <a:p>
            <a:pPr>
              <a:spcBef>
                <a:spcPts val="28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Converged mission sizing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413455" cy="457200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09160" y="1737360"/>
            <a:ext cx="27432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OPERATING EMPTY WEIGHT</a:t>
            </a:r>
          </a:p>
          <a:p>
            <a:pPr>
              <a:spcBef>
                <a:spcPts val="800"/>
              </a:spcBef>
              <a:defRPr sz="2800" b="1">
                <a:solidFill>
                  <a:srgbClr val="38BDF8"/>
                </a:solidFill>
                <a:latin typeface="Helvetica Neue"/>
              </a:defRPr>
            </a:pPr>
            <a:r>
              <a:t>155,600 kg</a:t>
            </a:r>
          </a:p>
          <a:p>
            <a:pPr>
              <a:spcBef>
                <a:spcPts val="400"/>
              </a:spcBef>
              <a:defRPr sz="1500" b="1">
                <a:solidFill>
                  <a:srgbClr val="CBD5E1"/>
                </a:solidFill>
                <a:latin typeface="Helvetica Neue"/>
              </a:defRPr>
            </a:pPr>
            <a:r>
              <a:t>We / W0 = 0.66</a:t>
            </a:r>
          </a:p>
          <a:p>
            <a:pPr>
              <a:spcBef>
                <a:spcPts val="28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Raymer statistical method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371600"/>
            <a:ext cx="3413455" cy="457200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19" y="1737360"/>
            <a:ext cx="27432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CRYOGENIC LH2 TANKS</a:t>
            </a:r>
          </a:p>
          <a:p>
            <a:pPr>
              <a:spcBef>
                <a:spcPts val="800"/>
              </a:spcBef>
              <a:defRPr sz="2800" b="1">
                <a:solidFill>
                  <a:srgbClr val="F8FAFC"/>
                </a:solidFill>
                <a:latin typeface="Helvetica Neue"/>
              </a:defRPr>
            </a:pPr>
            <a:r>
              <a:t>35,400 kg</a:t>
            </a:r>
          </a:p>
          <a:p>
            <a:pPr>
              <a:spcBef>
                <a:spcPts val="400"/>
              </a:spcBef>
              <a:defRPr sz="1500" b="1">
                <a:solidFill>
                  <a:srgbClr val="38BDF8"/>
                </a:solidFill>
                <a:latin typeface="Helvetica Neue"/>
              </a:defRPr>
            </a:pPr>
            <a:r>
              <a:t>6 × 5,900 kg</a:t>
            </a:r>
          </a:p>
          <a:p>
            <a:pPr>
              <a:spcBef>
                <a:spcPts val="28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Gravimetric index Gi = 0.50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The concept</a:t>
            </a:r>
          </a:p>
        </p:txBody>
      </p:sp>
      <p:pic>
        <p:nvPicPr>
          <p:cNvPr id="4" name="Picture 3" descr="image4_ble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325880"/>
            <a:ext cx="6123214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617220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Arial"/>
              </a:defRPr>
            </a:pPr>
            <a:r>
              <a:t>EXAELIA 80m Hydrogen BWB  •  430 Pax Theater Cabin  •  610 m³ Cryogenic Storage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PARAMETRIC CAD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3D CAD model</a:t>
            </a:r>
          </a:p>
        </p:txBody>
      </p:sp>
      <p:pic>
        <p:nvPicPr>
          <p:cNvPr id="4" name="Picture 3" descr="cad3d_ble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325880"/>
            <a:ext cx="6434667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617220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Arial"/>
              </a:defRPr>
            </a:pPr>
            <a:r>
              <a:t>OpenVSP 3.51.3 Parametric Multi-View Render  •  Top, Isometric, Front &amp; Side Views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References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10545775" cy="182880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920240"/>
            <a:ext cx="97840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Arial"/>
              </a:defRPr>
            </a:pPr>
            <a:r>
              <a:t>NASA Technical Reports Server (NTRS)</a:t>
            </a:r>
          </a:p>
          <a:p>
            <a:pPr>
              <a:spcBef>
                <a:spcPts val="400"/>
              </a:spcBef>
              <a:defRPr sz="1600" b="1">
                <a:solidFill>
                  <a:srgbClr val="F8FAFC"/>
                </a:solidFill>
                <a:latin typeface="Helvetica Neue"/>
              </a:defRPr>
            </a:pPr>
            <a:r>
              <a:t>Aerodynamic Design and Performance Analysis of Advanced Blended-Wing-Body Transports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Courier New"/>
              </a:defRPr>
            </a:pPr>
            <a:r>
              <a:t>https://ntrs.nasa.gov/api/citations/20120001452/downloads/20120001452.pdf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49039"/>
            <a:ext cx="10545775" cy="182880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4023359"/>
            <a:ext cx="97840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Arial"/>
              </a:defRPr>
            </a:pPr>
            <a:r>
              <a:t>International Journal of Hydrogen Energy (ScienceDirect)</a:t>
            </a:r>
          </a:p>
          <a:p>
            <a:pPr>
              <a:spcBef>
                <a:spcPts val="400"/>
              </a:spcBef>
              <a:defRPr sz="1600" b="1">
                <a:solidFill>
                  <a:srgbClr val="F8FAFC"/>
                </a:solidFill>
                <a:latin typeface="Helvetica Neue"/>
              </a:defRPr>
            </a:pPr>
            <a:r>
              <a:t>Civil Liquid Hydrogen Aircraft Design, Sizing and Cryogenic Storage Integration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Courier New"/>
              </a:defRPr>
            </a:pPr>
            <a:r>
              <a:t>https://www.sciencedirect.com/science/article/pii/S036031992404535X#bib87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