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1645920"/>
            <a:ext cx="10058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Arial"/>
              </a:defRPr>
            </a:pPr>
            <a:r>
              <a:t>CHALMERS UNIVERSITY OF TECHNOLOGY  •  MMS236 AIRCRAFT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2011680"/>
            <a:ext cx="100584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600" b="1">
                <a:solidFill>
                  <a:srgbClr val="F8FAFC"/>
                </a:solidFill>
                <a:latin typeface="Helvetica Neue"/>
              </a:defRPr>
            </a:pPr>
            <a:r>
              <a:t>Aircraft Design, DT1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108960"/>
            <a:ext cx="10058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CBD5E1"/>
                </a:solidFill>
                <a:latin typeface="Helvetica Neue"/>
              </a:defRPr>
            </a:pPr>
            <a:r>
              <a:t>EXAELIA — 80m Liquid Hydrogen Blended Wing Body Transport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41148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8FAFC"/>
                </a:solidFill>
                <a:latin typeface="Arial"/>
              </a:defRPr>
            </a:pPr>
            <a:r>
              <a:t>Johan Persson   •   Sai Srinivasa Manideep Jakka   •   Tobias Hilltorp   •   William Gustavsson</a:t>
            </a:r>
          </a:p>
          <a:p>
            <a:pPr>
              <a:spcBef>
                <a:spcPts val="400"/>
              </a:spcBef>
              <a:defRPr sz="1200">
                <a:solidFill>
                  <a:srgbClr val="94A3B8"/>
                </a:solidFill>
                <a:latin typeface="Arial"/>
              </a:defRPr>
            </a:pPr>
            <a:r>
              <a:t>Group 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0" y="5303520"/>
            <a:ext cx="9997135" cy="777240"/>
          </a:xfrm>
          <a:prstGeom prst="roundRect">
            <a:avLst/>
          </a:prstGeom>
          <a:solidFill>
            <a:srgbClr val="111622"/>
          </a:solidFill>
          <a:ln w="952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5440680"/>
            <a:ext cx="96313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38BDF8"/>
                </a:solidFill>
                <a:latin typeface="Arial"/>
              </a:defRPr>
            </a:pPr>
            <a:r>
              <a:t>430 Passengers   |   12,500 km Range   |   Mach 0.85 at FL350   |   80.0 m Span (ICAO Code F)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Arial"/>
              </a:defRPr>
            </a:pPr>
            <a:r>
              <a:t>MMS236  •  GROUP 13  •  CONCEPT ORIGIN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49808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Helvetica Neue"/>
              </a:defRPr>
            </a:pPr>
            <a:r>
              <a:t>First sketch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0" y="1371600"/>
            <a:ext cx="3962095" cy="4754880"/>
          </a:xfrm>
          <a:prstGeom prst="roundRect">
            <a:avLst/>
          </a:prstGeom>
          <a:solidFill>
            <a:srgbClr val="111622"/>
          </a:solidFill>
          <a:ln w="952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1508760"/>
            <a:ext cx="3596335" cy="508369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626364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94A3B8"/>
                </a:solidFill>
                <a:latin typeface="Arial"/>
              </a:defRPr>
            </a:pPr>
            <a:r>
              <a:t>Initial hand-drawn configuration sketch  •  80 m wingspan blended wing body planform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Arial"/>
              </a:defRPr>
            </a:pPr>
            <a:r>
              <a:t>MMS236  •  GROUP 13  •  MISSION PROFILE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49808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Helvetica Neue"/>
              </a:defRPr>
            </a:pPr>
            <a:r>
              <a:t>Sizing mission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560320" y="1371600"/>
            <a:ext cx="7071055" cy="4663440"/>
          </a:xfrm>
          <a:prstGeom prst="roundRect">
            <a:avLst/>
          </a:prstGeom>
          <a:solidFill>
            <a:srgbClr val="111622"/>
          </a:solidFill>
          <a:ln w="952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2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1536192"/>
            <a:ext cx="6522415" cy="510449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626364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94A3B8"/>
                </a:solidFill>
                <a:latin typeface="Arial"/>
              </a:defRPr>
            </a:pPr>
            <a:r>
              <a:t>Design Range: 12,500 km at FL350 (M0.85)  •  200 nm Diversion  •  30 min Loiter + 3% Contingency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Arial"/>
              </a:defRPr>
            </a:pPr>
            <a:r>
              <a:t>MMS236  •  GROUP 13  •  PROPULSION MODELING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49808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Helvetica Neue"/>
              </a:defRPr>
            </a:pPr>
            <a:r>
              <a:t>Engine performance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6035040" cy="4754880"/>
          </a:xfrm>
          <a:prstGeom prst="roundRect">
            <a:avLst/>
          </a:prstGeom>
          <a:solidFill>
            <a:srgbClr val="111622"/>
          </a:solidFill>
          <a:ln w="952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1691640"/>
            <a:ext cx="5577840" cy="37185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132320" y="1371600"/>
            <a:ext cx="4236415" cy="2240280"/>
          </a:xfrm>
          <a:prstGeom prst="roundRect">
            <a:avLst/>
          </a:prstGeom>
          <a:solidFill>
            <a:srgbClr val="111622"/>
          </a:solidFill>
          <a:ln w="952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06640" y="1600200"/>
            <a:ext cx="3657600" cy="1737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94A3B8"/>
                </a:solidFill>
                <a:latin typeface="Arial"/>
              </a:defRPr>
            </a:pPr>
            <a:r>
              <a:t>2050 SFC TREND (JET-A)</a:t>
            </a:r>
          </a:p>
          <a:p>
            <a:pPr>
              <a:spcBef>
                <a:spcPts val="400"/>
              </a:spcBef>
              <a:defRPr sz="3200" b="1">
                <a:solidFill>
                  <a:srgbClr val="F8FAFC"/>
                </a:solidFill>
                <a:latin typeface="Helvetica Neue"/>
              </a:defRPr>
            </a:pPr>
            <a:r>
              <a:t>12.0 mg/Ns</a:t>
            </a:r>
          </a:p>
          <a:p>
            <a:pPr>
              <a:spcBef>
                <a:spcPts val="400"/>
              </a:spcBef>
              <a:defRPr sz="1100">
                <a:solidFill>
                  <a:srgbClr val="CBD5E1"/>
                </a:solidFill>
                <a:latin typeface="Arial"/>
              </a:defRPr>
            </a:pPr>
            <a:r>
              <a:t>Baseline historical turbofan efficiency trend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0" y="3886200"/>
            <a:ext cx="4236415" cy="2240280"/>
          </a:xfrm>
          <a:prstGeom prst="roundRect">
            <a:avLst/>
          </a:prstGeom>
          <a:solidFill>
            <a:srgbClr val="111622"/>
          </a:solidFill>
          <a:ln w="952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06640" y="4114800"/>
            <a:ext cx="3657600" cy="1737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Arial"/>
              </a:defRPr>
            </a:pPr>
            <a:r>
              <a:t>LH2 EQUIVALENT SFC</a:t>
            </a:r>
          </a:p>
          <a:p>
            <a:pPr>
              <a:spcBef>
                <a:spcPts val="400"/>
              </a:spcBef>
              <a:defRPr sz="3600" b="1">
                <a:solidFill>
                  <a:srgbClr val="38BDF8"/>
                </a:solidFill>
                <a:latin typeface="Helvetica Neue"/>
              </a:defRPr>
            </a:pPr>
            <a:r>
              <a:t>4.8 mg/Ns</a:t>
            </a:r>
          </a:p>
          <a:p>
            <a:pPr>
              <a:spcBef>
                <a:spcPts val="400"/>
              </a:spcBef>
              <a:defRPr sz="1100">
                <a:solidFill>
                  <a:srgbClr val="CBD5E1"/>
                </a:solidFill>
                <a:latin typeface="Arial"/>
              </a:defRPr>
            </a:pPr>
            <a:r>
              <a:t>2.8× higher energy density (120 MJ/kg vs 42.8 MJ/kg)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Arial"/>
              </a:defRPr>
            </a:pPr>
            <a:r>
              <a:t>MMS236  •  GROUP 13  •  AERODYNAMIC EFFICIENCY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49808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Helvetica Neue"/>
              </a:defRPr>
            </a:pPr>
            <a:r>
              <a:t>Aerodynamics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5150815" cy="2240280"/>
          </a:xfrm>
          <a:prstGeom prst="roundRect">
            <a:avLst/>
          </a:prstGeom>
          <a:solidFill>
            <a:srgbClr val="111622"/>
          </a:solidFill>
          <a:ln w="952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1691640"/>
            <a:ext cx="4389120" cy="1600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94A3B8"/>
                </a:solidFill>
                <a:latin typeface="Arial"/>
              </a:defRPr>
            </a:pPr>
            <a:r>
              <a:t>ASPECT RATIO</a:t>
            </a:r>
          </a:p>
          <a:p>
            <a:pPr>
              <a:spcBef>
                <a:spcPts val="200"/>
              </a:spcBef>
              <a:defRPr sz="4000" b="1">
                <a:solidFill>
                  <a:srgbClr val="F8FAFC"/>
                </a:solidFill>
                <a:latin typeface="Helvetica Neue"/>
              </a:defRPr>
            </a:pPr>
            <a:r>
              <a:t>9.5</a:t>
            </a:r>
          </a:p>
          <a:p>
            <a:pPr>
              <a:spcBef>
                <a:spcPts val="400"/>
              </a:spcBef>
              <a:defRPr sz="1200">
                <a:solidFill>
                  <a:srgbClr val="CBD5E1"/>
                </a:solidFill>
                <a:latin typeface="Arial"/>
              </a:defRPr>
            </a:pPr>
            <a:r>
              <a:t>Transonic planform optimum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71600"/>
            <a:ext cx="5150815" cy="2240280"/>
          </a:xfrm>
          <a:prstGeom prst="roundRect">
            <a:avLst/>
          </a:prstGeom>
          <a:solidFill>
            <a:srgbClr val="111622"/>
          </a:solidFill>
          <a:ln w="952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0" y="1691640"/>
            <a:ext cx="4389120" cy="1600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94A3B8"/>
                </a:solidFill>
                <a:latin typeface="Arial"/>
              </a:defRPr>
            </a:pPr>
            <a:r>
              <a:t>WETTED RATIO (Swet / Sref)</a:t>
            </a:r>
          </a:p>
          <a:p>
            <a:pPr>
              <a:spcBef>
                <a:spcPts val="200"/>
              </a:spcBef>
              <a:defRPr sz="4000" b="1">
                <a:solidFill>
                  <a:srgbClr val="38BDF8"/>
                </a:solidFill>
                <a:latin typeface="Helvetica Neue"/>
              </a:defRPr>
            </a:pPr>
            <a:r>
              <a:t>2.2</a:t>
            </a:r>
          </a:p>
          <a:p>
            <a:pPr>
              <a:spcBef>
                <a:spcPts val="400"/>
              </a:spcBef>
              <a:defRPr sz="1200">
                <a:solidFill>
                  <a:srgbClr val="CBD5E1"/>
                </a:solidFill>
                <a:latin typeface="Arial"/>
              </a:defRPr>
            </a:pPr>
            <a:r>
              <a:t>High volumetric packaging efficiency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840480"/>
            <a:ext cx="5150815" cy="2240280"/>
          </a:xfrm>
          <a:prstGeom prst="roundRect">
            <a:avLst/>
          </a:prstGeom>
          <a:solidFill>
            <a:srgbClr val="111622"/>
          </a:solidFill>
          <a:ln w="952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4160520"/>
            <a:ext cx="4389120" cy="1600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94A3B8"/>
                </a:solidFill>
                <a:latin typeface="Arial"/>
              </a:defRPr>
            </a:pPr>
            <a:r>
              <a:t>MAX EFFICIENCY (L/D Max)</a:t>
            </a:r>
          </a:p>
          <a:p>
            <a:pPr>
              <a:spcBef>
                <a:spcPts val="200"/>
              </a:spcBef>
              <a:defRPr sz="4000" b="1">
                <a:solidFill>
                  <a:srgbClr val="F8FAFC"/>
                </a:solidFill>
                <a:latin typeface="Helvetica Neue"/>
              </a:defRPr>
            </a:pPr>
            <a:r>
              <a:t>30.8</a:t>
            </a:r>
          </a:p>
          <a:p>
            <a:pPr>
              <a:spcBef>
                <a:spcPts val="400"/>
              </a:spcBef>
              <a:defRPr sz="1200">
                <a:solidFill>
                  <a:srgbClr val="CBD5E1"/>
                </a:solidFill>
                <a:latin typeface="Arial"/>
              </a:defRPr>
            </a:pPr>
            <a:r>
              <a:t>Maximum loiter &amp; hold efficiency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3840480"/>
            <a:ext cx="5150815" cy="2240280"/>
          </a:xfrm>
          <a:prstGeom prst="roundRect">
            <a:avLst/>
          </a:prstGeom>
          <a:solidFill>
            <a:srgbClr val="111622"/>
          </a:solidFill>
          <a:ln w="952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4160520"/>
            <a:ext cx="4389120" cy="1600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94A3B8"/>
                </a:solidFill>
                <a:latin typeface="Arial"/>
              </a:defRPr>
            </a:pPr>
            <a:r>
              <a:t>CRUISE EFFICIENCY (L/D Cruise)</a:t>
            </a:r>
          </a:p>
          <a:p>
            <a:pPr>
              <a:spcBef>
                <a:spcPts val="200"/>
              </a:spcBef>
              <a:defRPr sz="4000" b="1">
                <a:solidFill>
                  <a:srgbClr val="38BDF8"/>
                </a:solidFill>
                <a:latin typeface="Helvetica Neue"/>
              </a:defRPr>
            </a:pPr>
            <a:r>
              <a:t>26.7</a:t>
            </a:r>
          </a:p>
          <a:p>
            <a:pPr>
              <a:spcBef>
                <a:spcPts val="400"/>
              </a:spcBef>
              <a:defRPr sz="1200">
                <a:solidFill>
                  <a:srgbClr val="CBD5E1"/>
                </a:solidFill>
                <a:latin typeface="Arial"/>
              </a:defRPr>
            </a:pPr>
            <a:r>
              <a:t>Optimal Mach 0.85 long-range condition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Arial"/>
              </a:defRPr>
            </a:pPr>
            <a:r>
              <a:t>MMS236  •  GROUP 13  •  MASS SIZING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49808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Helvetica Neue"/>
              </a:defRPr>
            </a:pPr>
            <a:r>
              <a:t>MTOW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463040"/>
            <a:ext cx="3413455" cy="4663440"/>
          </a:xfrm>
          <a:prstGeom prst="roundRect">
            <a:avLst/>
          </a:prstGeom>
          <a:solidFill>
            <a:srgbClr val="111622"/>
          </a:solidFill>
          <a:ln w="952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1828800"/>
            <a:ext cx="2743200" cy="3931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94A3B8"/>
                </a:solidFill>
                <a:latin typeface="Arial"/>
              </a:defRPr>
            </a:pPr>
            <a:r>
              <a:t>MAXIMUM TAKE-OFF WEIGHT</a:t>
            </a:r>
          </a:p>
          <a:p>
            <a:pPr>
              <a:spcBef>
                <a:spcPts val="800"/>
              </a:spcBef>
              <a:defRPr sz="2800" b="1">
                <a:solidFill>
                  <a:srgbClr val="F8FAFC"/>
                </a:solidFill>
                <a:latin typeface="Helvetica Neue"/>
              </a:defRPr>
            </a:pPr>
            <a:r>
              <a:t>235,460 kg</a:t>
            </a:r>
          </a:p>
          <a:p>
            <a:pPr>
              <a:spcBef>
                <a:spcPts val="400"/>
              </a:spcBef>
              <a:defRPr sz="1500" b="1">
                <a:solidFill>
                  <a:srgbClr val="38BDF8"/>
                </a:solidFill>
                <a:latin typeface="Helvetica Neue"/>
              </a:defRPr>
            </a:pPr>
            <a:r>
              <a:t>~235.5 tonnes</a:t>
            </a:r>
          </a:p>
          <a:p>
            <a:pPr>
              <a:spcBef>
                <a:spcPts val="2800"/>
              </a:spcBef>
              <a:defRPr sz="1200">
                <a:solidFill>
                  <a:srgbClr val="64748B"/>
                </a:solidFill>
                <a:latin typeface="Arial"/>
              </a:defRPr>
            </a:pPr>
            <a:r>
              <a:t>Converged mission sizing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463040"/>
            <a:ext cx="3413455" cy="4663440"/>
          </a:xfrm>
          <a:prstGeom prst="roundRect">
            <a:avLst/>
          </a:prstGeom>
          <a:solidFill>
            <a:srgbClr val="111622"/>
          </a:solidFill>
          <a:ln w="952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09160" y="1828800"/>
            <a:ext cx="2743200" cy="3931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94A3B8"/>
                </a:solidFill>
                <a:latin typeface="Arial"/>
              </a:defRPr>
            </a:pPr>
            <a:r>
              <a:t>OPERATING EMPTY WEIGHT</a:t>
            </a:r>
          </a:p>
          <a:p>
            <a:pPr>
              <a:spcBef>
                <a:spcPts val="800"/>
              </a:spcBef>
              <a:defRPr sz="2800" b="1">
                <a:solidFill>
                  <a:srgbClr val="38BDF8"/>
                </a:solidFill>
                <a:latin typeface="Helvetica Neue"/>
              </a:defRPr>
            </a:pPr>
            <a:r>
              <a:t>155,600 kg</a:t>
            </a:r>
          </a:p>
          <a:p>
            <a:pPr>
              <a:spcBef>
                <a:spcPts val="400"/>
              </a:spcBef>
              <a:defRPr sz="1500" b="1">
                <a:solidFill>
                  <a:srgbClr val="CBD5E1"/>
                </a:solidFill>
                <a:latin typeface="Helvetica Neue"/>
              </a:defRPr>
            </a:pPr>
            <a:r>
              <a:t>We / W0 = 0.66</a:t>
            </a:r>
          </a:p>
          <a:p>
            <a:pPr>
              <a:spcBef>
                <a:spcPts val="2800"/>
              </a:spcBef>
              <a:defRPr sz="1200">
                <a:solidFill>
                  <a:srgbClr val="64748B"/>
                </a:solidFill>
                <a:latin typeface="Arial"/>
              </a:defRPr>
            </a:pPr>
            <a:r>
              <a:t>Raymer statistical method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79" y="1463040"/>
            <a:ext cx="3413455" cy="4663440"/>
          </a:xfrm>
          <a:prstGeom prst="roundRect">
            <a:avLst/>
          </a:prstGeom>
          <a:solidFill>
            <a:srgbClr val="111622"/>
          </a:solidFill>
          <a:ln w="952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75319" y="1828800"/>
            <a:ext cx="2743200" cy="3931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94A3B8"/>
                </a:solidFill>
                <a:latin typeface="Arial"/>
              </a:defRPr>
            </a:pPr>
            <a:r>
              <a:t>CRYOGENIC LH2 TANKS</a:t>
            </a:r>
          </a:p>
          <a:p>
            <a:pPr>
              <a:spcBef>
                <a:spcPts val="800"/>
              </a:spcBef>
              <a:defRPr sz="2800" b="1">
                <a:solidFill>
                  <a:srgbClr val="F8FAFC"/>
                </a:solidFill>
                <a:latin typeface="Helvetica Neue"/>
              </a:defRPr>
            </a:pPr>
            <a:r>
              <a:t>35,400 kg</a:t>
            </a:r>
          </a:p>
          <a:p>
            <a:pPr>
              <a:spcBef>
                <a:spcPts val="400"/>
              </a:spcBef>
              <a:defRPr sz="1500" b="1">
                <a:solidFill>
                  <a:srgbClr val="38BDF8"/>
                </a:solidFill>
                <a:latin typeface="Helvetica Neue"/>
              </a:defRPr>
            </a:pPr>
            <a:r>
              <a:t>6 × 5,900 kg</a:t>
            </a:r>
          </a:p>
          <a:p>
            <a:pPr>
              <a:spcBef>
                <a:spcPts val="2800"/>
              </a:spcBef>
              <a:defRPr sz="1200">
                <a:solidFill>
                  <a:srgbClr val="64748B"/>
                </a:solidFill>
                <a:latin typeface="Arial"/>
              </a:defRPr>
            </a:pPr>
            <a:r>
              <a:t>Gravimetric index Gi = 0.50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Arial"/>
              </a:defRPr>
            </a:pPr>
            <a:r>
              <a:t>MMS236  •  GROUP 13  •  CONFIGURATION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49808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Helvetica Neue"/>
              </a:defRPr>
            </a:pPr>
            <a:r>
              <a:t>The concept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011680" y="1371600"/>
            <a:ext cx="8168335" cy="4754880"/>
          </a:xfrm>
          <a:prstGeom prst="roundRect">
            <a:avLst/>
          </a:prstGeom>
          <a:solidFill>
            <a:srgbClr val="111622"/>
          </a:solidFill>
          <a:ln w="952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4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0280" y="1508760"/>
            <a:ext cx="7711135" cy="57576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626364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94A3B8"/>
                </a:solidFill>
                <a:latin typeface="Arial"/>
              </a:defRPr>
            </a:pPr>
            <a:r>
              <a:t>EXAELIA 80m Hydrogen BWB  •  430 Pax Theater Cabin  •  610 m³ Cryogenic Storage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Arial"/>
              </a:defRPr>
            </a:pPr>
            <a:r>
              <a:t>MMS236  •  GROUP 13  •  PARAMETRIC CAD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49808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Helvetica Neue"/>
              </a:defRPr>
            </a:pPr>
            <a:r>
              <a:t>3D CAD model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011680" y="1371600"/>
            <a:ext cx="8168335" cy="4754880"/>
          </a:xfrm>
          <a:prstGeom prst="roundRect">
            <a:avLst/>
          </a:prstGeom>
          <a:solidFill>
            <a:srgbClr val="111622"/>
          </a:solidFill>
          <a:ln w="952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exaelia_bwb_80m_3d_view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0280" y="1508760"/>
            <a:ext cx="7711135" cy="547896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626364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94A3B8"/>
                </a:solidFill>
                <a:latin typeface="Arial"/>
              </a:defRPr>
            </a:pPr>
            <a:r>
              <a:t>OpenVSP 3.51.3 Parametric Multi-View Render  •  Top, Isometric, Front &amp; Side Views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Arial"/>
              </a:defRPr>
            </a:pPr>
            <a:r>
              <a:t>MMS236  •  GROUP 13  •  BIBLIOGRAPHY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49808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Helvetica Neue"/>
              </a:defRPr>
            </a:pPr>
            <a:r>
              <a:t>References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645920"/>
            <a:ext cx="10545775" cy="1828800"/>
          </a:xfrm>
          <a:prstGeom prst="roundRect">
            <a:avLst/>
          </a:prstGeom>
          <a:solidFill>
            <a:srgbClr val="111622"/>
          </a:solidFill>
          <a:ln w="952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1920240"/>
            <a:ext cx="978408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38BDF8"/>
                </a:solidFill>
                <a:latin typeface="Arial"/>
              </a:defRPr>
            </a:pPr>
            <a:r>
              <a:t>NASA Technical Reports Server (NTRS)</a:t>
            </a:r>
          </a:p>
          <a:p>
            <a:pPr>
              <a:spcBef>
                <a:spcPts val="400"/>
              </a:spcBef>
              <a:defRPr sz="1600" b="1">
                <a:solidFill>
                  <a:srgbClr val="F8FAFC"/>
                </a:solidFill>
                <a:latin typeface="Helvetica Neue"/>
              </a:defRPr>
            </a:pPr>
            <a:r>
              <a:t>Aerodynamic Design and Performance Analysis of Advanced Blended-Wing-Body Transports</a:t>
            </a:r>
          </a:p>
          <a:p>
            <a:pPr>
              <a:spcBef>
                <a:spcPts val="400"/>
              </a:spcBef>
              <a:defRPr sz="1050">
                <a:solidFill>
                  <a:srgbClr val="94A3B8"/>
                </a:solidFill>
                <a:latin typeface="Courier New"/>
              </a:defRPr>
            </a:pPr>
            <a:r>
              <a:t>https://ntrs.nasa.gov/api/citations/20120001452/downloads/20120001452.pdf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3749039"/>
            <a:ext cx="10545775" cy="1828800"/>
          </a:xfrm>
          <a:prstGeom prst="roundRect">
            <a:avLst/>
          </a:prstGeom>
          <a:solidFill>
            <a:srgbClr val="111622"/>
          </a:solidFill>
          <a:ln w="952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4023359"/>
            <a:ext cx="978408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38BDF8"/>
                </a:solidFill>
                <a:latin typeface="Arial"/>
              </a:defRPr>
            </a:pPr>
            <a:r>
              <a:t>International Journal of Hydrogen Energy (ScienceDirect)</a:t>
            </a:r>
          </a:p>
          <a:p>
            <a:pPr>
              <a:spcBef>
                <a:spcPts val="400"/>
              </a:spcBef>
              <a:defRPr sz="1600" b="1">
                <a:solidFill>
                  <a:srgbClr val="F8FAFC"/>
                </a:solidFill>
                <a:latin typeface="Helvetica Neue"/>
              </a:defRPr>
            </a:pPr>
            <a:r>
              <a:t>Civil Liquid Hydrogen Aircraft Design, Sizing and Cryogenic Storage Integration</a:t>
            </a:r>
          </a:p>
          <a:p>
            <a:pPr>
              <a:spcBef>
                <a:spcPts val="400"/>
              </a:spcBef>
              <a:defRPr sz="1050">
                <a:solidFill>
                  <a:srgbClr val="94A3B8"/>
                </a:solidFill>
                <a:latin typeface="Courier New"/>
              </a:defRPr>
            </a:pPr>
            <a:r>
              <a:t>https://www.sciencedirect.com/science/article/pii/S036031992404535X#bib87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