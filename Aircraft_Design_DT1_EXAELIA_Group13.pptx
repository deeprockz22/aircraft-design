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CHALMERS UNIVERSITY OF TECHNOLOGY  |  MMS236 AIRCRAFT DESIGN  |  DESIGN TASK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Helvetica Neue"/>
              </a:defRPr>
            </a:pPr>
            <a:r>
              <a:t>EXAELIA</a:t>
            </a:r>
          </a:p>
          <a:p>
            <a:pPr>
              <a:defRPr sz="2000" b="1">
                <a:solidFill>
                  <a:srgbClr val="FACC15"/>
                </a:solidFill>
                <a:latin typeface="Helvetica Neue"/>
              </a:defRPr>
            </a:pPr>
            <a:r>
              <a:t>80m Long-Range Liquid Hydrogen Blended Wing Body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  <a:latin typeface="Arial"/>
              </a:defRPr>
            </a:pPr>
            <a:r>
              <a:t>Group 13 Design Team:</a:t>
            </a:r>
          </a:p>
          <a:p>
            <a:pPr>
              <a:defRPr sz="1400" b="1">
                <a:solidFill>
                  <a:srgbClr val="E2E8F0"/>
                </a:solidFill>
                <a:latin typeface="Arial"/>
              </a:defRPr>
            </a:pPr>
            <a:r>
              <a:t>Johan Persson  •  Sai Srinivasa Manideep Jakka  •  Tobias Hilltorp  •  William Gustavsson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31920"/>
            <a:ext cx="2377440" cy="173736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041648"/>
            <a:ext cx="2103120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PASSENGER CAPACITY</a:t>
            </a:r>
          </a:p>
          <a:p>
            <a:pPr>
              <a:defRPr sz="2000" b="1">
                <a:solidFill>
                  <a:srgbClr val="38BDF8"/>
                </a:solidFill>
                <a:latin typeface="Helvetica Neue"/>
              </a:defRPr>
            </a:pPr>
            <a:r>
              <a:t>430 Pax (2-Class)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3931920"/>
            <a:ext cx="2377440" cy="173736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4041648"/>
            <a:ext cx="2103120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DESIGN RANGE</a:t>
            </a:r>
          </a:p>
          <a:p>
            <a:pPr>
              <a:defRPr sz="2000" b="1">
                <a:solidFill>
                  <a:srgbClr val="38BDF8"/>
                </a:solidFill>
                <a:latin typeface="Helvetica Neue"/>
              </a:defRPr>
            </a:pPr>
            <a:r>
              <a:t>12,500 km (6,750 nm)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2377440" cy="173736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4041648"/>
            <a:ext cx="2103120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CRUISE SPEED</a:t>
            </a:r>
          </a:p>
          <a:p>
            <a:pPr>
              <a:defRPr sz="2000" b="1">
                <a:solidFill>
                  <a:srgbClr val="38BDF8"/>
                </a:solidFill>
                <a:latin typeface="Helvetica Neue"/>
              </a:defRPr>
            </a:pPr>
            <a:r>
              <a:t>Mach 0.85 at FL350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3931920"/>
            <a:ext cx="2377440" cy="173736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4041648"/>
            <a:ext cx="2103120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WINGSPAN</a:t>
            </a:r>
          </a:p>
          <a:p>
            <a:pPr>
              <a:defRPr sz="2000" b="1">
                <a:solidFill>
                  <a:srgbClr val="38BDF8"/>
                </a:solidFill>
                <a:latin typeface="Helvetica Neue"/>
              </a:defRPr>
            </a:pPr>
            <a:r>
              <a:t>80.0 m (ICAO Code F)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MMS236 AIRCRAFT DESIGN |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Concept Origin: From Initial Sketch to Blended Body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937760" cy="502920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572000" cy="646287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52160" y="1280160"/>
            <a:ext cx="5608015" cy="502920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1508760"/>
            <a:ext cx="5166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50" b="1">
                <a:solidFill>
                  <a:srgbClr val="38BDF8"/>
                </a:solidFill>
                <a:latin typeface="Helvetica Neue"/>
              </a:defRPr>
            </a:pPr>
            <a:r>
              <a:t>1. Pure 80m Wingspan (ICAO Code F Gate Box)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Full span compliant with existing international airport gates (A380/B777X class) without requiring folding wings.</a:t>
            </a:r>
          </a:p>
          <a:p>
            <a:pPr>
              <a:spcBef>
                <a:spcPts val="800"/>
              </a:spcBef>
              <a:defRPr sz="1250" b="1">
                <a:solidFill>
                  <a:srgbClr val="38BDF8"/>
                </a:solidFill>
                <a:latin typeface="Helvetica Neue"/>
              </a:defRPr>
            </a:pPr>
            <a:r>
              <a:t>2. Muscular Lifting Centerbody (t/c = 19.5%)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A 7.41 m maximum centerbody depth easily houses a stand-up widebody passenger cabin and multi-layer cryogenic tanks.</a:t>
            </a:r>
          </a:p>
          <a:p>
            <a:pPr>
              <a:spcBef>
                <a:spcPts val="800"/>
              </a:spcBef>
              <a:defRPr sz="1250" b="1">
                <a:solidFill>
                  <a:srgbClr val="38BDF8"/>
                </a:solidFill>
                <a:latin typeface="Helvetica Neue"/>
              </a:defRPr>
            </a:pPr>
            <a:r>
              <a:t>3. Unified Single-Deck Theater Cabin (430 Pax)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Continuous 14.0 m wide central passenger deck with uninterrupted longitudinal aisles, eliminating claustrophobic isolated rows.</a:t>
            </a:r>
          </a:p>
          <a:p>
            <a:pPr>
              <a:spcBef>
                <a:spcPts val="800"/>
              </a:spcBef>
              <a:defRPr sz="1250" b="1">
                <a:solidFill>
                  <a:srgbClr val="38BDF8"/>
                </a:solidFill>
                <a:latin typeface="Helvetica Neue"/>
              </a:defRPr>
            </a:pPr>
            <a:r>
              <a:t>4. Symmetrical Outboard &amp; Aft Cryotanks (610 m³)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6 double-walled vacuum-insulated cylinders placed in wing shoulders and aft core to minimize CG excursion during fuel burn.</a:t>
            </a:r>
          </a:p>
          <a:p>
            <a:pPr>
              <a:spcBef>
                <a:spcPts val="800"/>
              </a:spcBef>
              <a:defRPr sz="1250" b="1">
                <a:solidFill>
                  <a:srgbClr val="38BDF8"/>
                </a:solidFill>
                <a:latin typeface="Helvetica Neue"/>
              </a:defRPr>
            </a:pPr>
            <a:r>
              <a:t>5. Upper-Deck Acoustically Shielded Turbofans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Twin geared turbofans mounted above the trailing deck to shield airport communities from engine fan and jet noise.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MMS236 AIRCRAFT DESIGN |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Mission Profile &amp; Flight Operational Envelope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28655" cy="310896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25880"/>
            <a:ext cx="9418320" cy="73708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526280"/>
            <a:ext cx="3383280" cy="17830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636008"/>
            <a:ext cx="3108960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MAIN CRUISE SEGMENT</a:t>
            </a:r>
          </a:p>
          <a:p>
            <a:pPr>
              <a:defRPr sz="2000" b="1">
                <a:solidFill>
                  <a:srgbClr val="38BDF8"/>
                </a:solidFill>
                <a:latin typeface="Helvetica Neue"/>
              </a:defRPr>
            </a:pPr>
            <a:r>
              <a:t>12,500 km at FL350 (M0.85)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526280"/>
            <a:ext cx="3383280" cy="17830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4636008"/>
            <a:ext cx="3108960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ALTERNATE AIRPORT DIVERSION</a:t>
            </a:r>
          </a:p>
          <a:p>
            <a:pPr>
              <a:defRPr sz="2000" b="1">
                <a:solidFill>
                  <a:srgbClr val="FACC15"/>
                </a:solidFill>
                <a:latin typeface="Helvetica Neue"/>
              </a:defRPr>
            </a:pPr>
            <a:r>
              <a:t>200 nm at FL250 (CS-25)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526280"/>
            <a:ext cx="3413455" cy="17830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4636008"/>
            <a:ext cx="3139135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STATUTORY LOITER &amp; CONTINGENCY</a:t>
            </a:r>
          </a:p>
          <a:p>
            <a:pPr>
              <a:defRPr sz="2000" b="1">
                <a:solidFill>
                  <a:srgbClr val="10B981"/>
                </a:solidFill>
                <a:latin typeface="Helvetica Neue"/>
              </a:defRPr>
            </a:pPr>
            <a:r>
              <a:t>30 min + 3% at 1,500 ft (ICAO)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MMS236 AIRCRAFT DESIGN |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Propulsion Modeling: Liquid Hydrogen SFC &amp; Energy Density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93776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280160"/>
            <a:ext cx="5242255" cy="502920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08760"/>
            <a:ext cx="4800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FACC15"/>
                </a:solidFill>
                <a:latin typeface="Helvetica Neue"/>
              </a:defRPr>
            </a:pPr>
            <a:r>
              <a:t>Year 2050 EIS Turbofan Baseline (Jet-A):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Following historical efficiency trends (CFM56 ➔ GE90 ➔ Leap-1A):</a:t>
            </a:r>
            <a:br/>
            <a:r>
              <a:t>• Jet-A Cruise SFC: ~12.0 to 13.5 mg/(N·s)</a:t>
            </a:r>
            <a:br/>
            <a:r>
              <a:t>• Jet-A Loiter SFC: ~11.0 mg/(N·s)</a:t>
            </a:r>
          </a:p>
          <a:p>
            <a:pPr>
              <a:spcBef>
                <a:spcPts val="1000"/>
              </a:spcBef>
              <a:defRPr sz="1300" b="1">
                <a:solidFill>
                  <a:srgbClr val="FACC15"/>
                </a:solidFill>
                <a:latin typeface="Helvetica Neue"/>
              </a:defRPr>
            </a:pPr>
            <a:r>
              <a:t>Thermal Energy Equivalence Principle: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Hydrogen releases 2.80× higher energy per kg than kerosene:</a:t>
            </a:r>
            <a:br/>
            <a:r>
              <a:t>• LHV (Jet-A) = 42.8 MJ/kg</a:t>
            </a:r>
            <a:br/>
            <a:r>
              <a:t>• LHV (LH2) = 120.0 MJ/kg</a:t>
            </a:r>
            <a:br/>
            <a:r>
              <a:t>• Energy Ratio: 42.8 / 120.0 = 0.3567</a:t>
            </a:r>
          </a:p>
          <a:p>
            <a:pPr>
              <a:spcBef>
                <a:spcPts val="1000"/>
              </a:spcBef>
              <a:defRPr sz="1300" b="1">
                <a:solidFill>
                  <a:srgbClr val="FACC15"/>
                </a:solidFill>
                <a:latin typeface="Helvetica Neue"/>
              </a:defRPr>
            </a:pPr>
            <a:r>
              <a:t>Converted Liquid Hydrogen SFC: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• LH2 Cruise SFC = 12.0 × 0.3567 ≈ 4.80 to 4.815 mg/(N·s)</a:t>
            </a:r>
            <a:br/>
            <a:r>
              <a:t>• LH2 Loiter SFC = 11.0 × 0.3567 ≈ 3.92 mg/(N·s)</a:t>
            </a:r>
            <a:br/>
            <a:r>
              <a:t>➔ Over 60% lower fuel mass flow rate than conventional Jet-A!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MMS236 AIRCRAFT DESIGN |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Aerodynamic Efficiency &amp; Drag Polar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15544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2286000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ASPECT RATIO (AR)</a:t>
            </a:r>
          </a:p>
          <a:p>
            <a:pPr>
              <a:defRPr sz="2000" b="1">
                <a:solidFill>
                  <a:srgbClr val="38BDF8"/>
                </a:solidFill>
                <a:latin typeface="Helvetica Neue"/>
              </a:defRPr>
            </a:pPr>
            <a:r>
              <a:t>9.50 Transonic Optimum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280160"/>
            <a:ext cx="2560320" cy="15544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389888"/>
            <a:ext cx="2286000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WETTED RATIO (SWET/SREF)</a:t>
            </a:r>
          </a:p>
          <a:p>
            <a:pPr>
              <a:defRPr sz="2000" b="1">
                <a:solidFill>
                  <a:srgbClr val="10B981"/>
                </a:solidFill>
                <a:latin typeface="Helvetica Neue"/>
              </a:defRPr>
            </a:pPr>
            <a:r>
              <a:t>2.20 High Volume Hull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280160"/>
            <a:ext cx="2560320" cy="15544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389888"/>
            <a:ext cx="2286000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MAX EFFICIENCY (L/D MAX)</a:t>
            </a:r>
          </a:p>
          <a:p>
            <a:pPr>
              <a:defRPr sz="2000" b="1">
                <a:solidFill>
                  <a:srgbClr val="FACC15"/>
                </a:solidFill>
                <a:latin typeface="Helvetica Neue"/>
              </a:defRPr>
            </a:pPr>
            <a:r>
              <a:t>30.8 Loiter &amp; Hold Phase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280160"/>
            <a:ext cx="2560320" cy="15544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389888"/>
            <a:ext cx="2286000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CRUISE EFFICIENCY (L/D)</a:t>
            </a:r>
          </a:p>
          <a:p>
            <a:pPr>
              <a:defRPr sz="2000" b="1">
                <a:solidFill>
                  <a:srgbClr val="38BDF8"/>
                </a:solidFill>
                <a:latin typeface="Helvetica Neue"/>
              </a:defRPr>
            </a:pPr>
            <a:r>
              <a:t>26.7 Mach 0.85 Range Max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5257800" cy="329184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4892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 Neue"/>
              </a:defRPr>
            </a:pPr>
            <a:r>
              <a:t>Parabolic Drag Polar Formulation: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• Zero-Lift Drag (CD0): 0.0150 (smooth composite BWB surface)</a:t>
            </a:r>
            <a:br/>
            <a:r>
              <a:t>• Oswald Span Factor (e): 0.85 with 70° canted winglets</a:t>
            </a:r>
            <a:br/>
            <a:r>
              <a:t>• Optimal Lift-to-Drag Ratio:</a:t>
            </a:r>
            <a:br/>
            <a:r>
              <a:t>   (L/D)_max = 0.5 × sqrt(π × AR × e / CD0)</a:t>
            </a:r>
            <a:br/>
            <a:r>
              <a:t>• Long-Range Cruise Condition:</a:t>
            </a:r>
            <a:br/>
            <a:r>
              <a:t>   (L/D)_cruise = 0.866 × (L/D)_max (maximizes V × L/D range factor)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017520"/>
            <a:ext cx="5285232" cy="329184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200400"/>
            <a:ext cx="491947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ACC15"/>
                </a:solidFill>
                <a:latin typeface="Helvetica Neue"/>
              </a:defRPr>
            </a:pPr>
            <a:r>
              <a:t>Blended Wing Body Advantages: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• Lifting Fuselage: Centerbody generates ~45% of total aircraft lift, reducing required wing loading.</a:t>
            </a:r>
            <a:br/>
            <a:r>
              <a:t>• Lower Wetted Area per Passenger: Reduces parasitic drag per seat by ~20% compared to circular tube-and-wing.</a:t>
            </a:r>
            <a:br/>
            <a:r>
              <a:t>• Spanwise Camber &amp; Winglets: Endplates lower induced drag while remaining strictly within the 80m Code F gate limit.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MMS236 AIRCRAFT DESIGN |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Aircraft Weight Buildup &amp; Sizing Convergence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6217920" cy="502920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852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Helvetica Neue"/>
              </a:defRPr>
            </a:pPr>
            <a:r>
              <a:t>Mass Breakdown (Converged Sizing Model):</a:t>
            </a:r>
          </a:p>
          <a:p>
            <a:pPr>
              <a:defRPr sz="1050" b="1">
                <a:solidFill>
                  <a:srgbClr val="FACC15"/>
                </a:solidFill>
                <a:latin typeface="Arial"/>
              </a:defRPr>
            </a:pPr>
            <a:r>
              <a:t>• Maximum Take-Off Weight (MTOW)       : 235,460 kg (235.5 t)  (100.0%)</a:t>
            </a:r>
          </a:p>
          <a:p>
            <a:pPr>
              <a:defRPr sz="1050" b="1">
                <a:solidFill>
                  <a:srgbClr val="FACC15"/>
                </a:solidFill>
                <a:latin typeface="Arial"/>
              </a:defRPr>
            </a:pPr>
            <a:r>
              <a:t>• Operating Empty Weight (OEW / We)    : 155,600 kg (155.6 t)  (66.0%)</a:t>
            </a:r>
          </a:p>
          <a:p>
            <a:pPr>
              <a:defRPr sz="1050" b="0">
                <a:solidFill>
                  <a:srgbClr val="E2E8F0"/>
                </a:solidFill>
                <a:latin typeface="Courier New"/>
              </a:defRPr>
            </a:pPr>
            <a:r>
              <a:t>•   • Baseline Airframe &amp; Systems      : 120,200 kg (120.2 t)  (51.0%)</a:t>
            </a:r>
          </a:p>
          <a:p>
            <a:pPr>
              <a:defRPr sz="1050" b="0">
                <a:solidFill>
                  <a:srgbClr val="E2E8F0"/>
                </a:solidFill>
                <a:latin typeface="Courier New"/>
              </a:defRPr>
            </a:pPr>
            <a:r>
              <a:t>•   • Cryogenic LH2 Tanks (6 Tanks)    : 35,400 kg (35.4 t)  (15.0%)</a:t>
            </a:r>
          </a:p>
          <a:p>
            <a:pPr>
              <a:defRPr sz="1050" b="0">
                <a:solidFill>
                  <a:srgbClr val="E2E8F0"/>
                </a:solidFill>
                <a:latin typeface="Arial"/>
              </a:defRPr>
            </a:pPr>
            <a:r>
              <a:t>• Design Payload (430 Pax + Cargo)     : 53,750 kg (53.8 t)  (22.8%)</a:t>
            </a:r>
          </a:p>
          <a:p>
            <a:pPr>
              <a:defRPr sz="1050" b="0">
                <a:solidFill>
                  <a:srgbClr val="E2E8F0"/>
                </a:solidFill>
                <a:latin typeface="Arial"/>
              </a:defRPr>
            </a:pPr>
            <a:r>
              <a:t>• Usable Liquid Hydrogen Fuel          : 24,850 to 39,330 kg  (~11–17%)</a:t>
            </a:r>
          </a:p>
          <a:p>
            <a:pPr>
              <a:defRPr sz="1050" b="0">
                <a:solidFill>
                  <a:srgbClr val="E2E8F0"/>
                </a:solidFill>
                <a:latin typeface="Arial"/>
              </a:defRPr>
            </a:pPr>
            <a:r>
              <a:t>• Flight &amp; Cabin Crew (12 Crew)        :  1,260 kg (1.26 t)  (0.5%)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280160"/>
            <a:ext cx="4327855" cy="502920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46304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  <a:latin typeface="Helvetica Neue"/>
              </a:defRPr>
            </a:pPr>
            <a:r>
              <a:t>Cryotank Gravimetric Sizing: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• Gravimetric Index (Gi = 0.50):</a:t>
            </a:r>
            <a:br/>
            <a:r>
              <a:t>   Gi = M_fuel / (M_fuel + M_tank)</a:t>
            </a:r>
            <a:br/>
            <a:r>
              <a:t>   Dry tank structural mass equals fuel mass.</a:t>
            </a:r>
            <a:br/>
            <a:br/>
            <a:r>
              <a:t>• 6 Cylindrical Vessels:</a:t>
            </a:r>
            <a:br/>
            <a:r>
              <a:t>   4 Wing Shoulder + 2 Aft Core tanks.</a:t>
            </a:r>
            <a:br/>
            <a:r>
              <a:t>   Average Dry Mass = 5,900 kg / tank.</a:t>
            </a:r>
            <a:br/>
            <a:br/>
            <a:r>
              <a:t>• Thermal &amp; Pressure Boundary:</a:t>
            </a:r>
            <a:br/>
            <a:r>
              <a:t>   - 20.3 K (-253 °C) liquid temperature</a:t>
            </a:r>
            <a:br/>
            <a:r>
              <a:t>   - 2.0 bar operating pressure</a:t>
            </a:r>
            <a:br/>
            <a:r>
              <a:t>   - Double-walled Multi-Layer Insulation (MLI) with evacuated vacuum jacket.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MMS236 AIRCRAFT DESIGN |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The Concept: 80m Blended Wing Body Digital Blueprint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28655" cy="512064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25880"/>
            <a:ext cx="10180015" cy="76010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MMS236 AIRCRAFT DESIGN |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3D Parametric CAD Model &amp; Surface Mesh (OpenVSP 3.51.3)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28655" cy="512064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aelia_bwb_80m_3d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25880"/>
            <a:ext cx="10271455" cy="72981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MMS236 AIRCRAFT DESIGN |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Design Innovations &amp; Future Work (Design Task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56432" cy="310896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09067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Helvetica Neue"/>
              </a:defRPr>
            </a:pPr>
            <a:r>
              <a:t>1. Unified Passenger Deck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• 430 Pax widebody theater layout (20m × 14m × 2.4m).</a:t>
            </a:r>
            <a:br/>
            <a:r>
              <a:t>• 4 continuous aisles with rapid emergency evacuation egress.</a:t>
            </a:r>
            <a:br/>
            <a:r>
              <a:t>• Eliminates isolated rows while preserving generous stand-up headroom.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280160"/>
            <a:ext cx="3456432" cy="310896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417320"/>
            <a:ext cx="309067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Helvetica Neue"/>
              </a:defRPr>
            </a:pPr>
            <a:r>
              <a:t>2. Balanced Fuel Packaging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• 6 symmetrical cryotanks placed in wing shoulders and aft core.</a:t>
            </a:r>
            <a:br/>
            <a:r>
              <a:t>• Minimal CG travel during flight, avoiding trim drag penalties.</a:t>
            </a:r>
            <a:br/>
            <a:r>
              <a:t>• Total storage volume: 610 m³ liquid hydrogen.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280160"/>
            <a:ext cx="3456432" cy="310896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417320"/>
            <a:ext cx="309067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ACC15"/>
                </a:solidFill>
                <a:latin typeface="Helvetica Neue"/>
              </a:defRPr>
            </a:pPr>
            <a:r>
              <a:t>3. Acoustic Shielding &amp; Ops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• Twin top-mounted turbofans shielded by upper aft deck.</a:t>
            </a:r>
            <a:br/>
            <a:r>
              <a:t>• 80m span strictly respects ICAO Code F airport infrastructure.</a:t>
            </a:r>
            <a:br/>
            <a:r>
              <a:t>• 3-point heavy landing gear ensures ground clearance.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173736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Helvetica Neue"/>
              </a:defRPr>
            </a:pPr>
            <a:r>
              <a:t>Roadmap for Design Task 2 (DT2 Detailed Aerodynamics &amp; Structure):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• 3D High-Fidelity CFD in Siemens STAR-CCM+ to validate transonic cruise polars (M0.85, Re = 45M).</a:t>
            </a:r>
            <a:br/>
            <a:r>
              <a:t>• Finite Element Structural Optimization for multi-bubble pressurized cabin bulkheads and wing spars.</a:t>
            </a:r>
            <a:br/>
            <a:r>
              <a:t>• Dynamic Stability &amp; Control evaluation with winglet rudders and elevon sizing.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MMS236 AIRCRAFT DESIGN |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 Neue"/>
              </a:defRPr>
            </a:pPr>
            <a:r>
              <a:t>Academic &amp; Industry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89888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Helvetica Neue"/>
              </a:defRPr>
            </a:pPr>
            <a:r>
              <a:t>NASA Technical Reports Server (NTRS)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NASA/CR-2012-217578: Aerodynamic Design and Performance Analysis of Advanced Blended-Wing-Body Transports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Source: https://ntrs.nasa.gov/api/citations/20120001452/downloads/20120001452.pdf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24328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Helvetica Neue"/>
              </a:defRPr>
            </a:pPr>
            <a:r>
              <a:t>International Journal of Hydrogen Energy (ScienceDirect)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Cryogenic Hydrogen Fuel Storage, Boil-off Management, and Sizing for Long-Range Civil Transports (2024)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Source: https://www.sciencedirect.com/science/article/pii/S036031992404535X#bib87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58767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Helvetica Neue"/>
              </a:defRPr>
            </a:pPr>
            <a:r>
              <a:t>Aircraft Design: A Conceptual Approach (D.P. Raymer, 6th Ed.)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Statistical empty weight estimation, Breguet jet range sizing algorithms, and CS-25 reserve fuel compliance.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Source: AIAA Education Series (2018)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83480"/>
            <a:ext cx="10728655" cy="10972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93208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Helvetica Neue"/>
              </a:defRPr>
            </a:pPr>
            <a:r>
              <a:t>Chalmers University of Technology MMS236 Lecture Series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Lecture 2 (Atmospheric Modeling &amp; Sizing Loops), Lecture 4 (Propulsion Trends &amp; Cryogenic Hydrogen Aviation).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Source: Department of Mechanics and Maritime Sciences (2026)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