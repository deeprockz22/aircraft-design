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7"/>
    <p:restoredTop sz="94631"/>
  </p:normalViewPr>
  <p:slideViewPr>
    <p:cSldViewPr snapToGrid="0" snapToObjects="1">
      <p:cViewPr varScale="1">
        <p:scale>
          <a:sx n="122" d="100"/>
          <a:sy n="122" d="100"/>
        </p:scale>
        <p:origin x="224" y="2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97280" y="1645920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4748B"/>
                </a:solidFill>
                <a:latin typeface="Arial"/>
              </a:defRPr>
            </a:pPr>
            <a:r>
              <a:t>CHALMERS UNIVERSITY OF TECHNOLOGY  •  MMS236 AIRCRAFT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011680"/>
            <a:ext cx="100584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0F172A"/>
                </a:solidFill>
                <a:latin typeface="Helvetica Neue"/>
              </a:defRPr>
            </a:pPr>
            <a:r>
              <a:t>Aircraft design, DT1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154680"/>
            <a:ext cx="10058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34155"/>
                </a:solidFill>
                <a:latin typeface="Helvetica Neue"/>
              </a:defRPr>
            </a:pPr>
            <a:r>
              <a:t>EXAELIA — 80m Liquid Hydrogen Blended Wing Body Transport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1148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Johan Persson, Sai Srinivasa Manideep Jakka, Tobias Hilltorp, William Gustavsson</a:t>
            </a:r>
          </a:p>
          <a:p>
            <a:pPr>
              <a:spcBef>
                <a:spcPts val="400"/>
              </a:spcBef>
              <a:defRPr sz="1300" b="1">
                <a:solidFill>
                  <a:srgbClr val="64748B"/>
                </a:solidFill>
                <a:latin typeface="Arial"/>
              </a:defRPr>
            </a:pPr>
            <a:r>
              <a:t>Group 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5349240"/>
            <a:ext cx="9997135" cy="77724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80160" y="5486400"/>
            <a:ext cx="96313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50" b="1">
                <a:solidFill>
                  <a:srgbClr val="0F172A"/>
                </a:solidFill>
                <a:latin typeface="Arial"/>
              </a:defRPr>
            </a:pPr>
            <a:r>
              <a:t>430 Passengers   |   12,500 km Range   |   Mach 0.85 at FL350   |   80.0 m Wingspan (ICAO Code F)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438912"/>
            <a:ext cx="105156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64748B"/>
                </a:solidFill>
                <a:latin typeface="Arial"/>
              </a:defRPr>
            </a:pPr>
            <a:r>
              <a:t>CONCEPT ORIGIN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105156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Helvetica Neue"/>
              </a:defRPr>
            </a:pPr>
            <a:r>
              <a:t>Blended wing body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0" y="1280160"/>
            <a:ext cx="3962095" cy="484632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slide_2_Content Placeholder 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3984" y="1371600"/>
            <a:ext cx="3299036" cy="4663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26364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64748B"/>
                </a:solidFill>
                <a:latin typeface="Arial"/>
              </a:defRPr>
            </a:pPr>
            <a:r>
              <a:t>Initial hand-drawn configuration sketch  •  80 m wingspan blended wing body planform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438912"/>
            <a:ext cx="105156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64748B"/>
                </a:solidFill>
                <a:latin typeface="Arial"/>
              </a:defRPr>
            </a:pPr>
            <a:r>
              <a:t>MISSION PROFILE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105156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Helvetica Neue"/>
              </a:defRPr>
            </a:pPr>
            <a:r>
              <a:t>Sizing mission</a:t>
            </a:r>
          </a:p>
        </p:txBody>
      </p:sp>
      <p:pic>
        <p:nvPicPr>
          <p:cNvPr id="4" name="Picture 3" descr="slide_3_Content Placeholder 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6976" y="1325880"/>
            <a:ext cx="5725160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626364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64748B"/>
                </a:solidFill>
                <a:latin typeface="Arial"/>
              </a:defRPr>
            </a:pPr>
            <a:r>
              <a:t>Design Range: 12,500 km at FL350 (M0.85)  •  200 nm Diversion  •  30 min Loiter + 3% Contingency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438912"/>
            <a:ext cx="105156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64748B"/>
                </a:solidFill>
                <a:latin typeface="Arial"/>
              </a:defRPr>
            </a:pPr>
            <a:r>
              <a:t>PROPULSION MODELING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105156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Helvetica Neue"/>
              </a:defRPr>
            </a:pPr>
            <a:r>
              <a:t>Engine performance</a:t>
            </a:r>
          </a:p>
        </p:txBody>
      </p:sp>
      <p:pic>
        <p:nvPicPr>
          <p:cNvPr id="4" name="Picture 3" descr="slide_4_Picture 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63040"/>
            <a:ext cx="6217920" cy="41452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0" y="1463040"/>
            <a:ext cx="4519448" cy="214884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589520" y="1691640"/>
            <a:ext cx="3474720" cy="1691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4748B"/>
                </a:solidFill>
                <a:latin typeface="Arial"/>
              </a:defRPr>
            </a:pPr>
            <a:r>
              <a:rPr dirty="0"/>
              <a:t>FOLLOWING TREND LINE</a:t>
            </a:r>
          </a:p>
          <a:p>
            <a:pPr>
              <a:spcBef>
                <a:spcPts val="400"/>
              </a:spcBef>
              <a:defRPr sz="2800" b="1">
                <a:solidFill>
                  <a:srgbClr val="0F172A"/>
                </a:solidFill>
                <a:latin typeface="Helvetica Neue"/>
              </a:defRPr>
            </a:pPr>
            <a:r>
              <a:rPr dirty="0"/>
              <a:t>2050 SFC ~ 12.4 mg/Ns</a:t>
            </a:r>
          </a:p>
          <a:p>
            <a:pPr>
              <a:spcBef>
                <a:spcPts val="400"/>
              </a:spcBef>
              <a:defRPr sz="1100">
                <a:solidFill>
                  <a:srgbClr val="334155"/>
                </a:solidFill>
                <a:latin typeface="Arial"/>
              </a:defRPr>
            </a:pPr>
            <a:r>
              <a:rPr dirty="0"/>
              <a:t>Baseline turbofan historical efficiency extrapolation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3794760"/>
            <a:ext cx="4053535" cy="214884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589520" y="4023360"/>
            <a:ext cx="3474720" cy="1691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4748B"/>
                </a:solidFill>
                <a:latin typeface="Arial"/>
              </a:defRPr>
            </a:pPr>
            <a:r>
              <a:t>HYDROGEN FUEL CONVERSION</a:t>
            </a:r>
          </a:p>
          <a:p>
            <a:pPr>
              <a:spcBef>
                <a:spcPts val="400"/>
              </a:spcBef>
              <a:defRPr sz="3200" b="1">
                <a:solidFill>
                  <a:srgbClr val="0F172A"/>
                </a:solidFill>
                <a:latin typeface="Helvetica Neue"/>
              </a:defRPr>
            </a:pPr>
            <a:r>
              <a:t>SFC ~ 5.0 mg/Ns</a:t>
            </a:r>
          </a:p>
          <a:p>
            <a:pPr>
              <a:spcBef>
                <a:spcPts val="400"/>
              </a:spcBef>
              <a:defRPr sz="1100">
                <a:solidFill>
                  <a:srgbClr val="334155"/>
                </a:solidFill>
                <a:latin typeface="Arial"/>
              </a:defRPr>
            </a:pPr>
            <a:r>
              <a:t>Adjusted for liquid hydrogen (120 MJ/kg vs 42.8 MJ/kg)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438912"/>
            <a:ext cx="105156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64748B"/>
                </a:solidFill>
                <a:latin typeface="Arial"/>
              </a:defRPr>
            </a:pPr>
            <a:r>
              <a:t>AERODYNAMIC EFFICIENCY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105156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Helvetica Neue"/>
              </a:defRPr>
            </a:pPr>
            <a:r>
              <a:t>Aerodynamics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5150815" cy="214884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88720" y="1645920"/>
            <a:ext cx="438912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4748B"/>
                </a:solidFill>
                <a:latin typeface="Arial"/>
              </a:defRPr>
            </a:pPr>
            <a:r>
              <a:t>ASPECT RATIO</a:t>
            </a:r>
          </a:p>
          <a:p>
            <a:pPr>
              <a:spcBef>
                <a:spcPts val="200"/>
              </a:spcBef>
              <a:defRPr sz="4200" b="1">
                <a:solidFill>
                  <a:srgbClr val="0F172A"/>
                </a:solidFill>
                <a:latin typeface="Helvetica Neue"/>
              </a:defRPr>
            </a:pPr>
            <a:r>
              <a:t>5.0</a:t>
            </a:r>
          </a:p>
          <a:p>
            <a:pPr>
              <a:spcBef>
                <a:spcPts val="300"/>
              </a:spcBef>
              <a:defRPr sz="1150">
                <a:solidFill>
                  <a:srgbClr val="334155"/>
                </a:solidFill>
                <a:latin typeface="Arial"/>
              </a:defRPr>
            </a:pPr>
            <a:r>
              <a:t>Full planform geometric ratio (b² / S_ref)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150815" cy="214884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0" y="1645920"/>
            <a:ext cx="438912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4748B"/>
                </a:solidFill>
                <a:latin typeface="Arial"/>
              </a:defRPr>
            </a:pPr>
            <a:r>
              <a:t>SWET / SREF</a:t>
            </a:r>
          </a:p>
          <a:p>
            <a:pPr>
              <a:spcBef>
                <a:spcPts val="200"/>
              </a:spcBef>
              <a:defRPr sz="4200" b="1">
                <a:solidFill>
                  <a:srgbClr val="0F172A"/>
                </a:solidFill>
                <a:latin typeface="Helvetica Neue"/>
              </a:defRPr>
            </a:pPr>
            <a:r>
              <a:t>2.4</a:t>
            </a:r>
          </a:p>
          <a:p>
            <a:pPr>
              <a:spcBef>
                <a:spcPts val="300"/>
              </a:spcBef>
              <a:defRPr sz="1150">
                <a:solidFill>
                  <a:srgbClr val="334155"/>
                </a:solidFill>
                <a:latin typeface="Arial"/>
              </a:defRPr>
            </a:pPr>
            <a:r>
              <a:t>High volumetric packaging efficiency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749039"/>
            <a:ext cx="5150815" cy="214884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88720" y="4023359"/>
            <a:ext cx="438912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4748B"/>
                </a:solidFill>
                <a:latin typeface="Arial"/>
              </a:defRPr>
            </a:pPr>
            <a:r>
              <a:t>L/D MAX</a:t>
            </a:r>
          </a:p>
          <a:p>
            <a:pPr>
              <a:spcBef>
                <a:spcPts val="200"/>
              </a:spcBef>
              <a:defRPr sz="4200" b="1">
                <a:solidFill>
                  <a:srgbClr val="0F172A"/>
                </a:solidFill>
                <a:latin typeface="Helvetica Neue"/>
              </a:defRPr>
            </a:pPr>
            <a:r>
              <a:t>24.5</a:t>
            </a:r>
          </a:p>
          <a:p>
            <a:pPr>
              <a:spcBef>
                <a:spcPts val="300"/>
              </a:spcBef>
              <a:defRPr sz="1150">
                <a:solidFill>
                  <a:srgbClr val="334155"/>
                </a:solidFill>
                <a:latin typeface="Arial"/>
              </a:defRPr>
            </a:pPr>
            <a:r>
              <a:t>Maximum loiter &amp; holding efficiency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749039"/>
            <a:ext cx="5150815" cy="214884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83680" y="4023359"/>
            <a:ext cx="438912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4748B"/>
                </a:solidFill>
                <a:latin typeface="Arial"/>
              </a:defRPr>
            </a:pPr>
            <a:r>
              <a:t>L/D CRUISE</a:t>
            </a:r>
          </a:p>
          <a:p>
            <a:pPr>
              <a:spcBef>
                <a:spcPts val="200"/>
              </a:spcBef>
              <a:defRPr sz="4200" b="1">
                <a:solidFill>
                  <a:srgbClr val="0F172A"/>
                </a:solidFill>
                <a:latin typeface="Helvetica Neue"/>
              </a:defRPr>
            </a:pPr>
            <a:r>
              <a:t>21.2</a:t>
            </a:r>
          </a:p>
          <a:p>
            <a:pPr>
              <a:spcBef>
                <a:spcPts val="300"/>
              </a:spcBef>
              <a:defRPr sz="1150">
                <a:solidFill>
                  <a:srgbClr val="334155"/>
                </a:solidFill>
                <a:latin typeface="Arial"/>
              </a:defRPr>
            </a:pPr>
            <a:r>
              <a:t>Optimal Mach 0.85 long-range condition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26364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64748B"/>
                </a:solidFill>
                <a:latin typeface="Arial"/>
              </a:defRPr>
            </a:pPr>
            <a:r>
              <a:t>Holding &amp; Loiter Aerodynamic Efficiency: (L/D) Loiter = 24.5 (Jet Engine Loiter Maximum)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438912"/>
            <a:ext cx="105156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64748B"/>
                </a:solidFill>
                <a:latin typeface="Arial"/>
              </a:defRPr>
            </a:pPr>
            <a:r>
              <a:t>MASS SIZING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105156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Helvetica Neue"/>
              </a:defRPr>
            </a:pPr>
            <a:r>
              <a:t>MTOW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3413455" cy="3379076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43000" y="1737360"/>
            <a:ext cx="2884123" cy="233910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4748B"/>
                </a:solidFill>
                <a:latin typeface="Arial"/>
              </a:defRPr>
            </a:pPr>
            <a:r>
              <a:rPr dirty="0"/>
              <a:t>ASSUMPTION</a:t>
            </a:r>
          </a:p>
          <a:p>
            <a:pPr>
              <a:spcBef>
                <a:spcPts val="800"/>
              </a:spcBef>
              <a:defRPr sz="2600" b="1">
                <a:solidFill>
                  <a:srgbClr val="0F172A"/>
                </a:solidFill>
                <a:latin typeface="Helvetica Neue"/>
              </a:defRPr>
            </a:pPr>
            <a:r>
              <a:rPr dirty="0"/>
              <a:t>Aircraft design </a:t>
            </a:r>
            <a:endParaRPr lang="en-US" dirty="0"/>
          </a:p>
          <a:p>
            <a:pPr>
              <a:spcBef>
                <a:spcPts val="800"/>
              </a:spcBef>
              <a:defRPr sz="2600" b="1">
                <a:solidFill>
                  <a:srgbClr val="0F172A"/>
                </a:solidFill>
                <a:latin typeface="Helvetica Neue"/>
              </a:defRPr>
            </a:pPr>
            <a:r>
              <a:rPr dirty="0"/>
              <a:t>book</a:t>
            </a:r>
          </a:p>
          <a:p>
            <a:pPr>
              <a:spcBef>
                <a:spcPts val="600"/>
              </a:spcBef>
              <a:defRPr sz="1350" b="1">
                <a:solidFill>
                  <a:srgbClr val="334155"/>
                </a:solidFill>
                <a:latin typeface="Helvetica Neue"/>
              </a:defRPr>
            </a:pPr>
            <a:r>
              <a:rPr dirty="0"/>
              <a:t>Raymer statistical empty weight </a:t>
            </a:r>
            <a:endParaRPr lang="en-US" dirty="0"/>
          </a:p>
          <a:p>
            <a:pPr>
              <a:spcBef>
                <a:spcPts val="600"/>
              </a:spcBef>
              <a:defRPr sz="1350" b="1">
                <a:solidFill>
                  <a:srgbClr val="334155"/>
                </a:solidFill>
                <a:latin typeface="Helvetica Neue"/>
              </a:defRPr>
            </a:pPr>
            <a:r>
              <a:rPr dirty="0"/>
              <a:t>buildup method</a:t>
            </a:r>
          </a:p>
          <a:p>
            <a:pPr>
              <a:spcBef>
                <a:spcPts val="26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rPr dirty="0"/>
              <a:t>Raymer Methodology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371600"/>
            <a:ext cx="3413455" cy="3379076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709160" y="1737360"/>
            <a:ext cx="2743200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4748B"/>
                </a:solidFill>
                <a:latin typeface="Arial"/>
              </a:defRPr>
            </a:pPr>
            <a:r>
              <a:t>EMPTY WEIGHT FRACTION</a:t>
            </a:r>
          </a:p>
          <a:p>
            <a:pPr>
              <a:spcBef>
                <a:spcPts val="800"/>
              </a:spcBef>
              <a:defRPr sz="3800" b="1">
                <a:solidFill>
                  <a:srgbClr val="0F172A"/>
                </a:solidFill>
                <a:latin typeface="Helvetica Neue"/>
              </a:defRPr>
            </a:pPr>
            <a:r>
              <a:t>0.56</a:t>
            </a:r>
          </a:p>
          <a:p>
            <a:pPr>
              <a:spcBef>
                <a:spcPts val="600"/>
              </a:spcBef>
              <a:defRPr sz="1350" b="1">
                <a:solidFill>
                  <a:srgbClr val="334155"/>
                </a:solidFill>
                <a:latin typeface="Helvetica Neue"/>
              </a:defRPr>
            </a:pPr>
            <a:r>
              <a:t>We / W0 = 155,600 / 275,460 kg</a:t>
            </a:r>
          </a:p>
          <a:p>
            <a:pPr>
              <a:spcBef>
                <a:spcPts val="26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MTOW = 275,460 kg (~275.5 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1371600"/>
            <a:ext cx="3413455" cy="3379076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75319" y="1737360"/>
            <a:ext cx="2743200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4748B"/>
                </a:solidFill>
                <a:latin typeface="Arial"/>
              </a:defRPr>
            </a:pPr>
            <a:r>
              <a:t>TANK MASS</a:t>
            </a:r>
          </a:p>
          <a:p>
            <a:pPr>
              <a:spcBef>
                <a:spcPts val="800"/>
              </a:spcBef>
              <a:defRPr sz="3800" b="1">
                <a:solidFill>
                  <a:srgbClr val="0F172A"/>
                </a:solidFill>
                <a:latin typeface="Helvetica Neue"/>
              </a:defRPr>
            </a:pPr>
            <a:r>
              <a:t>35,400 kg</a:t>
            </a:r>
          </a:p>
          <a:p>
            <a:pPr>
              <a:spcBef>
                <a:spcPts val="600"/>
              </a:spcBef>
              <a:defRPr sz="1350" b="1">
                <a:solidFill>
                  <a:srgbClr val="334155"/>
                </a:solidFill>
                <a:latin typeface="Helvetica Neue"/>
              </a:defRPr>
            </a:pPr>
            <a:r>
              <a:t>6 tanks × 5,900 kg</a:t>
            </a:r>
          </a:p>
          <a:p>
            <a:pPr>
              <a:spcBef>
                <a:spcPts val="26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Gravimetric index Gi = 0.50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438912"/>
            <a:ext cx="105156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64748B"/>
                </a:solidFill>
                <a:latin typeface="Arial"/>
              </a:defRPr>
            </a:pPr>
            <a:r>
              <a:t>CONFIGURATION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105156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Helvetica Neue"/>
              </a:defRPr>
            </a:pPr>
            <a:r>
              <a:t>The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4748B"/>
                </a:solidFill>
                <a:latin typeface="Arial"/>
              </a:defRPr>
            </a:pPr>
            <a:r>
              <a:t>(AI ENHANCED SKETCH)</a:t>
            </a:r>
          </a:p>
        </p:txBody>
      </p:sp>
      <p:pic>
        <p:nvPicPr>
          <p:cNvPr id="5" name="Picture 4" descr="slide_7_Picture 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8104" y="1508760"/>
            <a:ext cx="6078086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26364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64748B"/>
                </a:solidFill>
                <a:latin typeface="Arial"/>
              </a:defRPr>
            </a:pPr>
            <a:r>
              <a:t>EXAELIA 80m Hydrogen BWB  •  430 Pax Single-Deck Theater Cabin  •  610 m³ Cryogenic Storage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438912"/>
            <a:ext cx="105156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64748B"/>
                </a:solidFill>
                <a:latin typeface="Arial"/>
              </a:defRPr>
            </a:pPr>
            <a:r>
              <a:t>BIBLIOGRAPHY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105156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Helvetica Neue"/>
              </a:defRPr>
            </a:pPr>
            <a:r>
              <a:t>References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645920"/>
            <a:ext cx="10545775" cy="182880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88720" y="1920240"/>
            <a:ext cx="97840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334155"/>
                </a:solidFill>
                <a:latin typeface="Arial"/>
              </a:defRPr>
            </a:pPr>
            <a:r>
              <a:t>NASA Technical Reports Server (NTRS)</a:t>
            </a:r>
          </a:p>
          <a:p>
            <a:pPr>
              <a:spcBef>
                <a:spcPts val="400"/>
              </a:spcBef>
              <a:defRPr sz="1600" b="1">
                <a:solidFill>
                  <a:srgbClr val="0F172A"/>
                </a:solidFill>
                <a:latin typeface="Helvetica Neue"/>
              </a:defRPr>
            </a:pPr>
            <a:r>
              <a:t>Aerodynamic Design and Performance Analysis of Advanced Blended-Wing-Body Transports</a:t>
            </a:r>
          </a:p>
          <a:p>
            <a:pPr>
              <a:spcBef>
                <a:spcPts val="400"/>
              </a:spcBef>
              <a:defRPr sz="1050">
                <a:solidFill>
                  <a:srgbClr val="64748B"/>
                </a:solidFill>
                <a:latin typeface="Courier New"/>
              </a:defRPr>
            </a:pPr>
            <a:r>
              <a:t>https://ntrs.nasa.gov/api/citations/20120001452/downloads/20120001452.pdf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749039"/>
            <a:ext cx="10545775" cy="182880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88720" y="4023359"/>
            <a:ext cx="97840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334155"/>
                </a:solidFill>
                <a:latin typeface="Arial"/>
              </a:defRPr>
            </a:pPr>
            <a:r>
              <a:t>International Journal of Hydrogen Energy (ScienceDirect)</a:t>
            </a:r>
          </a:p>
          <a:p>
            <a:pPr>
              <a:spcBef>
                <a:spcPts val="400"/>
              </a:spcBef>
              <a:defRPr sz="1600" b="1">
                <a:solidFill>
                  <a:srgbClr val="0F172A"/>
                </a:solidFill>
                <a:latin typeface="Helvetica Neue"/>
              </a:defRPr>
            </a:pPr>
            <a:r>
              <a:t>Civil Liquid Hydrogen Aircraft Design, Sizing and Cryogenic Storage Integration</a:t>
            </a:r>
          </a:p>
          <a:p>
            <a:pPr>
              <a:spcBef>
                <a:spcPts val="400"/>
              </a:spcBef>
              <a:defRPr sz="1050">
                <a:solidFill>
                  <a:srgbClr val="64748B"/>
                </a:solidFill>
                <a:latin typeface="Courier New"/>
              </a:defRPr>
            </a:pPr>
            <a:r>
              <a:t>https://www.sciencedirect.com/science/article/pii/S036031992404535X#bib87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87</TotalTime>
  <Words>352</Words>
  <Application>Microsoft Macintosh PowerPoint</Application>
  <PresentationFormat>Widescreen</PresentationFormat>
  <Paragraphs>63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Mani Deep</cp:lastModifiedBy>
  <cp:revision>3</cp:revision>
  <dcterms:created xsi:type="dcterms:W3CDTF">2013-01-27T09:14:16Z</dcterms:created>
  <dcterms:modified xsi:type="dcterms:W3CDTF">2026-09-11T10:54:36Z</dcterms:modified>
  <cp:category/>
</cp:coreProperties>
</file>