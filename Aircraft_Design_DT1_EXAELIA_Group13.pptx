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CHALMERS UNIVERSITY OF TECHNOLOGY  •  MMS236 AIRCRAFT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F172A"/>
                </a:solidFill>
                <a:latin typeface="Helvetica Neue"/>
              </a:defRPr>
            </a:pPr>
            <a:r>
              <a:t>Aircraft design, DT1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5468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34155"/>
                </a:solidFill>
                <a:latin typeface="Helvetica Neue"/>
              </a:defRPr>
            </a:pPr>
            <a:r>
              <a:t>EXAELIA — 80m Liquid Hydrogen Blended Wing Body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Johan Persson, Sai Srinivasa Manideep Jakka, Tobias Hilltorp, William Gustavsson</a:t>
            </a:r>
          </a:p>
          <a:p>
            <a:pPr>
              <a:spcBef>
                <a:spcPts val="400"/>
              </a:spcBef>
              <a:defRPr sz="1300" b="1">
                <a:solidFill>
                  <a:srgbClr val="64748B"/>
                </a:solidFill>
                <a:latin typeface="Arial"/>
              </a:defRPr>
            </a:pPr>
            <a:r>
              <a:t>Group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49240"/>
            <a:ext cx="9997135" cy="7772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5486400"/>
            <a:ext cx="96313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 b="1">
                <a:solidFill>
                  <a:srgbClr val="0F172A"/>
                </a:solidFill>
                <a:latin typeface="Arial"/>
              </a:defRPr>
            </a:pPr>
            <a:r>
              <a:t>430 Passengers   |   12,500 km Range   |   Mach 0.85 at FL350   |   80.0 m Wingspan (ICAO Code 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CONCEPT ORIGIN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Blended wing body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280160"/>
            <a:ext cx="3962095" cy="48463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lide_2_Content Placeholder 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371600"/>
            <a:ext cx="3299036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Initial hand-drawn configuration sketch  •  80 m wingspan blended wing body planform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MISSION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Sizing mission</a:t>
            </a:r>
          </a:p>
        </p:txBody>
      </p:sp>
      <p:pic>
        <p:nvPicPr>
          <p:cNvPr id="4" name="Picture 3" descr="slide_3_Content Placeholder 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6976" y="1325880"/>
            <a:ext cx="572516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Design Range: 12,500 km at FL350 (M0.85)  •  200 nm Diversion  •  30 min Loiter + 3% Contingency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PROPULSION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Engine performance</a:t>
            </a:r>
          </a:p>
        </p:txBody>
      </p:sp>
      <p:pic>
        <p:nvPicPr>
          <p:cNvPr id="4" name="Picture 3" descr="slide_4_Picture 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6217920" cy="41452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1463040"/>
            <a:ext cx="405353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691640"/>
            <a:ext cx="34747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FOLLOWING TREND LINE</a:t>
            </a:r>
          </a:p>
          <a:p>
            <a:pPr>
              <a:spcBef>
                <a:spcPts val="400"/>
              </a:spcBef>
              <a:defRPr sz="2800" b="1">
                <a:solidFill>
                  <a:srgbClr val="0F172A"/>
                </a:solidFill>
                <a:latin typeface="Helvetica Neue"/>
              </a:defRPr>
            </a:pPr>
            <a:r>
              <a:t>2050 SFC ~ 12.4 mg/Ns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Baseline turbofan historical efficiency extrapolation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3794760"/>
            <a:ext cx="405353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4023360"/>
            <a:ext cx="34747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HYDROGEN FUEL CONVERSION</a:t>
            </a:r>
          </a:p>
          <a:p>
            <a:pPr>
              <a:spcBef>
                <a:spcPts val="400"/>
              </a:spcBef>
              <a:defRPr sz="3200" b="1">
                <a:solidFill>
                  <a:srgbClr val="0F172A"/>
                </a:solidFill>
                <a:latin typeface="Helvetica Neue"/>
              </a:defRPr>
            </a:pPr>
            <a:r>
              <a:t>SFC ~ 5.0 mg/Ns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  <a:latin typeface="Arial"/>
              </a:defRPr>
            </a:pPr>
            <a:r>
              <a:t>Adjusted for liquid hydrogen (120 MJ/kg vs 42.8 MJ/kg)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AERODYNAMIC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Aerodynamics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ASPECT RATIO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5.0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Full planform geometric ratio (b² / S_ref)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SWET / SREF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2.4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High volumetric packaging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49039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L/D MAX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24.5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Maximum loiter &amp; holding efficiency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49039"/>
            <a:ext cx="5150815" cy="21488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L/D CRUISE</a:t>
            </a:r>
          </a:p>
          <a:p>
            <a:pPr>
              <a:spcBef>
                <a:spcPts val="200"/>
              </a:spcBef>
              <a:defRPr sz="4200" b="1">
                <a:solidFill>
                  <a:srgbClr val="0F172A"/>
                </a:solidFill>
                <a:latin typeface="Helvetica Neue"/>
              </a:defRPr>
            </a:pPr>
            <a:r>
              <a:t>21.2</a:t>
            </a:r>
          </a:p>
          <a:p>
            <a:pPr>
              <a:spcBef>
                <a:spcPts val="300"/>
              </a:spcBef>
              <a:defRPr sz="1150">
                <a:solidFill>
                  <a:srgbClr val="334155"/>
                </a:solidFill>
                <a:latin typeface="Arial"/>
              </a:defRPr>
            </a:pPr>
            <a:r>
              <a:t>Optimal Mach 0.85 long-range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Holding &amp; Loiter Aerodynamic Efficiency: (L/D) Loiter = 24.5 (Jet Engine Loiter Maximum)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MASS SIZING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MTOW &amp; Mass Sizing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10545775" cy="16002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10058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64748B"/>
                </a:solidFill>
                <a:latin typeface="Arial"/>
              </a:defRPr>
            </a:pPr>
            <a:r>
              <a:t>TAKEOFF WEIGHT SIZING EQUATION (RAYMER METHOD)</a:t>
            </a:r>
          </a:p>
          <a:p>
            <a:pPr>
              <a:spcBef>
                <a:spcPts val="300"/>
              </a:spcBef>
              <a:defRPr sz="1700" b="1">
                <a:solidFill>
                  <a:srgbClr val="0F172A"/>
                </a:solidFill>
                <a:latin typeface="Helvetica Neue"/>
              </a:defRPr>
            </a:pPr>
            <a:r>
              <a:t>W0 = ( W_payload + W_crew )  /  [ 1 − ( We / W0 ) − ( Wf / W0 ) ]</a:t>
            </a:r>
          </a:p>
          <a:p>
            <a:pPr>
              <a:spcBef>
                <a:spcPts val="400"/>
              </a:spcBef>
              <a:defRPr sz="1400" b="1">
                <a:solidFill>
                  <a:srgbClr val="334155"/>
                </a:solidFill>
                <a:latin typeface="Helvetica Neue"/>
              </a:defRPr>
            </a:pPr>
            <a:r>
              <a:t>W0 = ( 53,750 kg + 1,260 kg )  /  [ 1 − 0.565 − 0.235 ]  =  55,010 kg / 0.200  =  275,460 kg  (~275.5 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108960"/>
            <a:ext cx="2542032" cy="30175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38328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Arial"/>
              </a:defRPr>
            </a:pPr>
            <a:r>
              <a:t>EMPTY WEIGHT (We)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Helvetica Neue"/>
              </a:defRPr>
            </a:pPr>
            <a:r>
              <a:t>155,600 kg</a:t>
            </a:r>
          </a:p>
          <a:p>
            <a:pPr>
              <a:spcBef>
                <a:spcPts val="200"/>
              </a:spcBef>
              <a:defRPr sz="1100" b="1">
                <a:solidFill>
                  <a:srgbClr val="334155"/>
                </a:solidFill>
                <a:latin typeface="Helvetica Neue"/>
              </a:defRPr>
            </a:pPr>
            <a:r>
              <a:t>We / W0 = 0.56 (56.5%)</a:t>
            </a:r>
          </a:p>
          <a:p>
            <a:pPr>
              <a:spcBef>
                <a:spcPts val="8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Airframe: 120,200 kg (43.6%)</a:t>
            </a:r>
            <a:br/>
            <a:r>
              <a:t>Tanks: 35,400 kg (6 × 5,900 kg)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3008" y="3108960"/>
            <a:ext cx="2542032" cy="30175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21608" y="338328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Arial"/>
              </a:defRPr>
            </a:pPr>
            <a:r>
              <a:t>DESIGN PAYLOAD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Helvetica Neue"/>
              </a:defRPr>
            </a:pPr>
            <a:r>
              <a:t>53,750 kg</a:t>
            </a:r>
          </a:p>
          <a:p>
            <a:pPr>
              <a:spcBef>
                <a:spcPts val="200"/>
              </a:spcBef>
              <a:defRPr sz="1100" b="1">
                <a:solidFill>
                  <a:srgbClr val="334155"/>
                </a:solidFill>
                <a:latin typeface="Helvetica Neue"/>
              </a:defRPr>
            </a:pPr>
            <a:r>
              <a:t>19.5% of MTOW</a:t>
            </a:r>
          </a:p>
          <a:p>
            <a:pPr>
              <a:spcBef>
                <a:spcPts val="8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430 Pax @ 100 kg = 43,000 kg</a:t>
            </a:r>
            <a:br/>
            <a:r>
              <a:t>Containerized Cargo = 10,750 kg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3108960"/>
            <a:ext cx="2542032" cy="30175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338328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Arial"/>
              </a:defRPr>
            </a:pPr>
            <a:r>
              <a:t>MISSION LH2 FUEL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Helvetica Neue"/>
              </a:defRPr>
            </a:pPr>
            <a:r>
              <a:t>64,850 kg</a:t>
            </a:r>
          </a:p>
          <a:p>
            <a:pPr>
              <a:spcBef>
                <a:spcPts val="200"/>
              </a:spcBef>
              <a:defRPr sz="1100" b="1">
                <a:solidFill>
                  <a:srgbClr val="334155"/>
                </a:solidFill>
                <a:latin typeface="Helvetica Neue"/>
              </a:defRPr>
            </a:pPr>
            <a:r>
              <a:t>Wf / W0 = 0.235 (23.5%)</a:t>
            </a:r>
          </a:p>
          <a:p>
            <a:pPr>
              <a:spcBef>
                <a:spcPts val="8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Breguet cruise (12,500 km)</a:t>
            </a:r>
            <a:br/>
            <a:r>
              <a:t>200 nm diversion + 30 min loiter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3104" y="3108960"/>
            <a:ext cx="2542032" cy="30175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61704" y="3383280"/>
            <a:ext cx="2103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  <a:latin typeface="Arial"/>
              </a:defRPr>
            </a:pPr>
            <a:r>
              <a:t>FLIGHT CREW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Helvetica Neue"/>
              </a:defRPr>
            </a:pPr>
            <a:r>
              <a:t>1,260 kg</a:t>
            </a:r>
          </a:p>
          <a:p>
            <a:pPr>
              <a:spcBef>
                <a:spcPts val="200"/>
              </a:spcBef>
              <a:defRPr sz="1100" b="1">
                <a:solidFill>
                  <a:srgbClr val="334155"/>
                </a:solidFill>
                <a:latin typeface="Helvetica Neue"/>
              </a:defRPr>
            </a:pPr>
            <a:r>
              <a:t>0.5% of MTOW</a:t>
            </a:r>
          </a:p>
          <a:p>
            <a:pPr>
              <a:spcBef>
                <a:spcPts val="8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2 Flight Deck Pilots</a:t>
            </a:r>
            <a:br/>
            <a:r>
              <a:t>10 Cabin Crew Attendants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Arial"/>
              </a:defRPr>
            </a:pPr>
            <a:r>
              <a:t>Cryotank Gravimetric Index Gi = 0.50 (M_tank = M_fuel)  •  Raymer Statistical Empty Weight Sizing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Arial"/>
              </a:defRPr>
            </a:pPr>
            <a:r>
              <a:t>(AI ENHANCED SKETCH)</a:t>
            </a:r>
          </a:p>
        </p:txBody>
      </p:sp>
      <p:pic>
        <p:nvPicPr>
          <p:cNvPr id="5" name="Picture 4" descr="slide_7_Picture 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8104" y="1508760"/>
            <a:ext cx="607808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Arial"/>
              </a:defRPr>
            </a:pPr>
            <a:r>
              <a:t>EXAELIA 80m Hydrogen BWB  •  430 Pax Single-Deck Theater Cabin  •  610 m³ Cryogenic 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38912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64748B"/>
                </a:solidFill>
                <a:latin typeface="Arial"/>
              </a:defRPr>
            </a:pPr>
            <a: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Helvetica Neue"/>
              </a:defRPr>
            </a:pPr>
            <a:r>
              <a:t>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45775" cy="18288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4155"/>
                </a:solidFill>
                <a:latin typeface="Arial"/>
              </a:defRPr>
            </a:pPr>
            <a:r>
              <a:t>NASA Technical Reports Server (NTRS)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Helvetica Neue"/>
              </a:defRPr>
            </a:pPr>
            <a:r>
              <a:t>Aerodynamic Design and Performance Analysis of Advanced Blended-Wing-Body Transports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  <a:latin typeface="Courier New"/>
              </a:defRPr>
            </a:pPr>
            <a:r>
              <a:t>https://ntrs.nasa.gov/api/citations/20120001452/downloads/20120001452.pdf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0545775" cy="18288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023359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34155"/>
                </a:solidFill>
                <a:latin typeface="Arial"/>
              </a:defRPr>
            </a:pPr>
            <a:r>
              <a:t>International Journal of Hydrogen Energy (ScienceDirect)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Helvetica Neue"/>
              </a:defRPr>
            </a:pPr>
            <a:r>
              <a:t>Civil Liquid Hydrogen Aircraft Design, Sizing and Cryogenic Storage Integration</a:t>
            </a:r>
          </a:p>
          <a:p>
            <a:pPr>
              <a:spcBef>
                <a:spcPts val="400"/>
              </a:spcBef>
              <a:defRPr sz="1050">
                <a:solidFill>
                  <a:srgbClr val="64748B"/>
                </a:solidFill>
                <a:latin typeface="Courier New"/>
              </a:defRPr>
            </a:pPr>
            <a:r>
              <a:t>https://www.sciencedirect.com/science/article/pii/S036031992404535X#bib87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